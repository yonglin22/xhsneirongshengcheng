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1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822960" y="1051560"/>
            <a:ext cx="2926080" cy="0"/>
          </a:xfrm>
          <a:prstGeom prst="bentConnector3">
            <a:avLst/>
          </a:prstGeom>
          <a:ln w="12700">
            <a:solidFill>
              <a:srgbClr val="C9A8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114300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 i="0" spc="400">
                <a:solidFill>
                  <a:srgbClr val="C9A85F"/>
                </a:solidFill>
                <a:latin typeface="Times New Roman"/>
                <a:ea typeface="Times New Roman"/>
              </a:rPr>
              <a:t>ZHU SHA  ·  PLUGIN  INSTALL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74519"/>
            <a:ext cx="105156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200" b="1" i="0">
                <a:solidFill>
                  <a:srgbClr val="F2E9D6"/>
                </a:solidFill>
                <a:latin typeface="Songti SC"/>
                <a:ea typeface="Songti SC"/>
              </a:rPr>
              <a:t>朱砂助手 插件</a:t>
            </a:r>
          </a:p>
          <a:p>
            <a:r>
              <a:rPr sz="5200" b="1" i="0">
                <a:solidFill>
                  <a:srgbClr val="C9A85F"/>
                </a:solidFill>
                <a:latin typeface="Songti SC"/>
                <a:ea typeface="Songti SC"/>
              </a:rPr>
              <a:t>安装教程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06908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 i="0">
                <a:solidFill>
                  <a:srgbClr val="C3B498"/>
                </a:solidFill>
                <a:latin typeface="Songti SC"/>
                <a:ea typeface="Songti SC"/>
              </a:rPr>
              <a:t>养号 · 截流 · 数据回流一体化</a:t>
            </a:r>
            <a:r>
              <a:rPr sz="1600" b="0" i="0">
                <a:solidFill>
                  <a:srgbClr val="9C8F7C"/>
                </a:solidFill>
                <a:latin typeface="Songti SC"/>
                <a:ea typeface="Songti SC"/>
              </a:rPr>
              <a:t>   ｜   </a:t>
            </a:r>
            <a:r>
              <a:rPr sz="1600" b="0" i="0">
                <a:solidFill>
                  <a:srgbClr val="C3B498"/>
                </a:solidFill>
                <a:latin typeface="Songti SC"/>
                <a:ea typeface="Songti SC"/>
              </a:rPr>
              <a:t>住宅 IP 更安全 · 零门槛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41248" y="4846320"/>
            <a:ext cx="3657600" cy="0"/>
          </a:xfrm>
          <a:prstGeom prst="bentConnector3">
            <a:avLst/>
          </a:prstGeom>
          <a:ln w="12700">
            <a:solidFill>
              <a:srgbClr val="C9A8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41248" y="49834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 i="0" spc="100">
                <a:solidFill>
                  <a:srgbClr val="9C8F7C"/>
                </a:solidFill>
                <a:latin typeface="Microsoft YaHei"/>
                <a:ea typeface="Microsoft YaHei"/>
              </a:rPr>
              <a:t>电脑版 Chrome / Edge  ·  含产品截图 · 逐步详解  ·  v1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1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548640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0" b="1" i="0">
                <a:solidFill>
                  <a:srgbClr val="3A2C1F"/>
                </a:solidFill>
                <a:latin typeface="Times New Roman"/>
                <a:ea typeface="Times New Roman"/>
              </a:rPr>
              <a:t>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83464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 i="0" spc="400">
                <a:solidFill>
                  <a:srgbClr val="C9A85F"/>
                </a:solidFill>
                <a:latin typeface="Times New Roman"/>
                <a:ea typeface="Times New Roman"/>
              </a:rPr>
              <a:t>WEI SHEN 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291840"/>
            <a:ext cx="100584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800" b="1" i="0">
                <a:solidFill>
                  <a:srgbClr val="F2E9D6"/>
                </a:solidFill>
                <a:latin typeface="Songti SC"/>
                <a:ea typeface="Songti SC"/>
              </a:rPr>
              <a:t>为什么要装「朱砂助手」插件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68680" y="4206240"/>
            <a:ext cx="2926080" cy="0"/>
          </a:xfrm>
          <a:prstGeom prst="bentConnector3">
            <a:avLst/>
          </a:prstGeom>
          <a:ln w="12700">
            <a:solidFill>
              <a:srgbClr val="C9A8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68680" y="4389120"/>
            <a:ext cx="100584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500" b="0" i="0">
                <a:solidFill>
                  <a:srgbClr val="C3B498"/>
                </a:solidFill>
                <a:latin typeface="Microsoft YaHei"/>
                <a:ea typeface="Microsoft YaHei"/>
              </a:rPr>
              <a:t>养号、评论区截流、发布后数据回流，都靠这个浏览器插件在你已登录的小红书里执行。</a:t>
            </a:r>
          </a:p>
          <a:p>
            <a:pPr>
              <a:lnSpc>
                <a:spcPct val="130000"/>
              </a:lnSpc>
            </a:pPr>
            <a:r>
              <a:rPr sz="1500" b="0" i="0">
                <a:solidFill>
                  <a:srgbClr val="C3B498"/>
                </a:solidFill>
                <a:latin typeface="Microsoft YaHei"/>
                <a:ea typeface="Microsoft YaHei"/>
              </a:rPr>
              <a:t>用本机住宅 IP，比机房扫码更安全、登录态更稳；每 75 分钟自动续期，不易掉线。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0080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C9A85F"/>
                </a:solidFill>
                <a:latin typeface="Times New Roman"/>
                <a:ea typeface="Times New Roman"/>
              </a:rPr>
              <a:t>01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1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 i="0">
                <a:solidFill>
                  <a:srgbClr val="C9A85F"/>
                </a:solidFill>
                <a:latin typeface="Songti SC"/>
                <a:ea typeface="Songti SC"/>
              </a:rPr>
              <a:t>朱砂</a:t>
            </a:r>
            <a:r>
              <a:rPr sz="1300" b="0" i="0">
                <a:solidFill>
                  <a:srgbClr val="9C8F7C"/>
                </a:solidFill>
                <a:latin typeface="Songti SC"/>
                <a:ea typeface="Songti SC"/>
              </a:rPr>
              <a:t> · </a:t>
            </a:r>
            <a:r>
              <a:rPr sz="1300" b="1" i="0">
                <a:solidFill>
                  <a:srgbClr val="F2E9D6"/>
                </a:solidFill>
                <a:latin typeface="Songti SC"/>
                <a:ea typeface="Songti SC"/>
              </a:rPr>
              <a:t>操盘台</a:t>
            </a:r>
            <a:r>
              <a:rPr sz="900" b="0" i="0" spc="200">
                <a:solidFill>
                  <a:srgbClr val="9C8F7C"/>
                </a:solidFill>
                <a:latin typeface="Times New Roman"/>
                <a:ea typeface="Times New Roman"/>
              </a:rPr>
              <a:t>   VERTICAL AGENT STUDIO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024128"/>
            <a:ext cx="11064239" cy="0"/>
          </a:xfrm>
          <a:prstGeom prst="bentConnector3">
            <a:avLst/>
          </a:prstGeom>
          <a:ln w="9525">
            <a:solidFill>
              <a:srgbClr val="3A2C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118872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 i="0" spc="300">
                <a:solidFill>
                  <a:srgbClr val="C9A85F"/>
                </a:solidFill>
                <a:latin typeface="Times New Roman"/>
                <a:ea typeface="Times New Roman"/>
              </a:rPr>
              <a:t>PREPARE · 准备工作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536192"/>
            <a:ext cx="106070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 i="0">
                <a:solidFill>
                  <a:srgbClr val="F2E9D6"/>
                </a:solidFill>
                <a:latin typeface="Songti SC"/>
                <a:ea typeface="Songti SC"/>
              </a:rPr>
              <a:t>开始前，先备齐 3 样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2514600"/>
            <a:ext cx="365760" cy="365760"/>
          </a:xfrm>
          <a:prstGeom prst="ellipse">
            <a:avLst/>
          </a:prstGeom>
          <a:solidFill>
            <a:srgbClr val="C9A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 i="0">
                <a:solidFill>
                  <a:srgbClr val="18110E"/>
                </a:solidFill>
                <a:latin typeface="Times New Roman"/>
                <a:ea typeface="Times New Roman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468880"/>
            <a:ext cx="10332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F2E9D6"/>
                </a:solidFill>
                <a:latin typeface="Microsoft YaHei"/>
                <a:ea typeface="Microsoft YaHei"/>
              </a:rPr>
              <a:t>一台电脑 + Chrome / Edge 浏览器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C3B498"/>
                </a:solidFill>
                <a:latin typeface="Microsoft YaHei"/>
                <a:ea typeface="Microsoft YaHei"/>
              </a:rPr>
              <a:t>插件是电脑版浏览器扩展，手机不需要装。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3355848"/>
            <a:ext cx="365760" cy="365760"/>
          </a:xfrm>
          <a:prstGeom prst="ellipse">
            <a:avLst/>
          </a:prstGeom>
          <a:solidFill>
            <a:srgbClr val="C9A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 i="0">
                <a:solidFill>
                  <a:srgbClr val="18110E"/>
                </a:solidFill>
                <a:latin typeface="Times New Roman"/>
                <a:ea typeface="Times New Roman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310128"/>
            <a:ext cx="10332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F2E9D6"/>
                </a:solidFill>
                <a:latin typeface="Microsoft YaHei"/>
                <a:ea typeface="Microsoft YaHei"/>
              </a:rPr>
              <a:t>登录你的朱砂操盘台账号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C3B498"/>
                </a:solidFill>
                <a:latin typeface="Microsoft YaHei"/>
                <a:ea typeface="Microsoft YaHei"/>
              </a:rPr>
              <a:t>和插件用同一浏览器，装好后自动认这个登录态。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4197096"/>
            <a:ext cx="365760" cy="365760"/>
          </a:xfrm>
          <a:prstGeom prst="ellipse">
            <a:avLst/>
          </a:prstGeom>
          <a:solidFill>
            <a:srgbClr val="C9A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 i="0">
                <a:solidFill>
                  <a:srgbClr val="18110E"/>
                </a:solidFill>
                <a:latin typeface="Times New Roman"/>
                <a:ea typeface="Times New Roman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151376"/>
            <a:ext cx="10332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F2E9D6"/>
                </a:solidFill>
                <a:latin typeface="Microsoft YaHei"/>
                <a:ea typeface="Microsoft YaHei"/>
              </a:rPr>
              <a:t>登录要养号/截流的小红书账号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C3B498"/>
                </a:solidFill>
                <a:latin typeface="Microsoft YaHei"/>
                <a:ea typeface="Microsoft YaHei"/>
              </a:rPr>
              <a:t>同一浏览器打开 xiaohongshu.com 并登录，脚本在此登录态里跑。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0080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C9A85F"/>
                </a:solidFill>
                <a:latin typeface="Times New Roman"/>
                <a:ea typeface="Times New Roman"/>
              </a:rPr>
              <a:t>02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1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 i="0">
                <a:solidFill>
                  <a:srgbClr val="C9A85F"/>
                </a:solidFill>
                <a:latin typeface="Songti SC"/>
                <a:ea typeface="Songti SC"/>
              </a:rPr>
              <a:t>朱砂</a:t>
            </a:r>
            <a:r>
              <a:rPr sz="1300" b="0" i="0">
                <a:solidFill>
                  <a:srgbClr val="9C8F7C"/>
                </a:solidFill>
                <a:latin typeface="Songti SC"/>
                <a:ea typeface="Songti SC"/>
              </a:rPr>
              <a:t> · </a:t>
            </a:r>
            <a:r>
              <a:rPr sz="1300" b="1" i="0">
                <a:solidFill>
                  <a:srgbClr val="F2E9D6"/>
                </a:solidFill>
                <a:latin typeface="Songti SC"/>
                <a:ea typeface="Songti SC"/>
              </a:rPr>
              <a:t>操盘台</a:t>
            </a:r>
            <a:r>
              <a:rPr sz="900" b="0" i="0" spc="200">
                <a:solidFill>
                  <a:srgbClr val="9C8F7C"/>
                </a:solidFill>
                <a:latin typeface="Times New Roman"/>
                <a:ea typeface="Times New Roman"/>
              </a:rPr>
              <a:t>   VERTICAL AGENT STUDIO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024128"/>
            <a:ext cx="11064239" cy="0"/>
          </a:xfrm>
          <a:prstGeom prst="bentConnector3">
            <a:avLst/>
          </a:prstGeom>
          <a:ln w="9525">
            <a:solidFill>
              <a:srgbClr val="3A2C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118872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 i="0" spc="300">
                <a:solidFill>
                  <a:srgbClr val="C9A85F"/>
                </a:solidFill>
                <a:latin typeface="Times New Roman"/>
                <a:ea typeface="Times New Roman"/>
              </a:rPr>
              <a:t>STEP 01 · 下载插件包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536192"/>
            <a:ext cx="106070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 i="0">
                <a:solidFill>
                  <a:srgbClr val="F2E9D6"/>
                </a:solidFill>
                <a:latin typeface="Songti SC"/>
                <a:ea typeface="Songti SC"/>
              </a:rPr>
              <a:t>第一步：下载「朱砂助手」压缩包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2514600"/>
            <a:ext cx="365760" cy="365760"/>
          </a:xfrm>
          <a:prstGeom prst="ellipse">
            <a:avLst/>
          </a:prstGeom>
          <a:solidFill>
            <a:srgbClr val="C9A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 i="0">
                <a:solidFill>
                  <a:srgbClr val="18110E"/>
                </a:solidFill>
                <a:latin typeface="Times New Roman"/>
                <a:ea typeface="Times New Roman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468880"/>
            <a:ext cx="50292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F2E9D6"/>
                </a:solidFill>
                <a:latin typeface="Microsoft YaHei"/>
                <a:ea typeface="Microsoft YaHei"/>
              </a:rPr>
              <a:t>进入「联系客服」或「设备看板」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C3B498"/>
                </a:solidFill>
                <a:latin typeface="Microsoft YaHei"/>
                <a:ea typeface="Microsoft YaHei"/>
              </a:rPr>
              <a:t>点页面上的「⬇ 下载插件」按钮。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3355848"/>
            <a:ext cx="365760" cy="365760"/>
          </a:xfrm>
          <a:prstGeom prst="ellipse">
            <a:avLst/>
          </a:prstGeom>
          <a:solidFill>
            <a:srgbClr val="C9A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 i="0">
                <a:solidFill>
                  <a:srgbClr val="18110E"/>
                </a:solidFill>
                <a:latin typeface="Times New Roman"/>
                <a:ea typeface="Times New Roman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310128"/>
            <a:ext cx="50292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F2E9D6"/>
                </a:solidFill>
                <a:latin typeface="Microsoft YaHei"/>
                <a:ea typeface="Microsoft YaHei"/>
              </a:rPr>
              <a:t>下载得到 .zip 压缩包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C3B498"/>
                </a:solidFill>
                <a:latin typeface="Microsoft YaHei"/>
                <a:ea typeface="Microsoft YaHei"/>
              </a:rPr>
              <a:t>文件名 zhusha-helper-extension.zip。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4197096"/>
            <a:ext cx="365760" cy="365760"/>
          </a:xfrm>
          <a:prstGeom prst="ellipse">
            <a:avLst/>
          </a:prstGeom>
          <a:solidFill>
            <a:srgbClr val="C9A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 i="0">
                <a:solidFill>
                  <a:srgbClr val="18110E"/>
                </a:solidFill>
                <a:latin typeface="Times New Roman"/>
                <a:ea typeface="Times New Roman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151376"/>
            <a:ext cx="50292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F2E9D6"/>
                </a:solidFill>
                <a:latin typeface="Microsoft YaHei"/>
                <a:ea typeface="Microsoft YaHei"/>
              </a:rPr>
              <a:t>解压到一个固定文件夹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C3B498"/>
                </a:solidFill>
                <a:latin typeface="Microsoft YaHei"/>
                <a:ea typeface="Microsoft YaHei"/>
              </a:rPr>
              <a:t>别放桌面/下载等临时目录——删了插件会失效。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91656" y="3594771"/>
            <a:ext cx="5321808" cy="1405817"/>
          </a:xfrm>
          <a:prstGeom prst="rect">
            <a:avLst/>
          </a:prstGeom>
          <a:solidFill>
            <a:srgbClr val="241B16"/>
          </a:solidFill>
          <a:ln w="12700">
            <a:solidFill>
              <a:srgbClr val="C9A8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s_help_d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3649635"/>
            <a:ext cx="5212080" cy="1296089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566928" y="5943600"/>
            <a:ext cx="11064240" cy="548640"/>
          </a:xfrm>
          <a:prstGeom prst="rect">
            <a:avLst/>
          </a:prstGeom>
          <a:solidFill>
            <a:srgbClr val="241B16"/>
          </a:solidFill>
          <a:ln w="12700">
            <a:solidFill>
              <a:srgbClr val="C9A8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60350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 i="0">
                <a:solidFill>
                  <a:srgbClr val="C9A85F"/>
                </a:solidFill>
                <a:latin typeface="Microsoft YaHei"/>
                <a:ea typeface="Microsoft YaHei"/>
              </a:rPr>
              <a:t>⚠ </a:t>
            </a:r>
            <a:r>
              <a:rPr sz="1200" b="0" i="0">
                <a:solidFill>
                  <a:srgbClr val="F2E9D6"/>
                </a:solidFill>
                <a:latin typeface="Microsoft YaHei"/>
                <a:ea typeface="Microsoft YaHei"/>
              </a:rPr>
              <a:t>解压后文件夹里应能看到 manifest.json；建议放 D:\朱砂助手\ 或 文稿/朱砂助手/。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0080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C9A85F"/>
                </a:solidFill>
                <a:latin typeface="Times New Roman"/>
                <a:ea typeface="Times New Roman"/>
              </a:rPr>
              <a:t>03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1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 i="0">
                <a:solidFill>
                  <a:srgbClr val="C9A85F"/>
                </a:solidFill>
                <a:latin typeface="Songti SC"/>
                <a:ea typeface="Songti SC"/>
              </a:rPr>
              <a:t>朱砂</a:t>
            </a:r>
            <a:r>
              <a:rPr sz="1300" b="0" i="0">
                <a:solidFill>
                  <a:srgbClr val="9C8F7C"/>
                </a:solidFill>
                <a:latin typeface="Songti SC"/>
                <a:ea typeface="Songti SC"/>
              </a:rPr>
              <a:t> · </a:t>
            </a:r>
            <a:r>
              <a:rPr sz="1300" b="1" i="0">
                <a:solidFill>
                  <a:srgbClr val="F2E9D6"/>
                </a:solidFill>
                <a:latin typeface="Songti SC"/>
                <a:ea typeface="Songti SC"/>
              </a:rPr>
              <a:t>操盘台</a:t>
            </a:r>
            <a:r>
              <a:rPr sz="900" b="0" i="0" spc="200">
                <a:solidFill>
                  <a:srgbClr val="9C8F7C"/>
                </a:solidFill>
                <a:latin typeface="Times New Roman"/>
                <a:ea typeface="Times New Roman"/>
              </a:rPr>
              <a:t>   VERTICAL AGENT STUDIO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024128"/>
            <a:ext cx="11064239" cy="0"/>
          </a:xfrm>
          <a:prstGeom prst="bentConnector3">
            <a:avLst/>
          </a:prstGeom>
          <a:ln w="9525">
            <a:solidFill>
              <a:srgbClr val="3A2C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118872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 i="0" spc="300">
                <a:solidFill>
                  <a:srgbClr val="C9A85F"/>
                </a:solidFill>
                <a:latin typeface="Times New Roman"/>
                <a:ea typeface="Times New Roman"/>
              </a:rPr>
              <a:t>STEP 02 · 打开扩展管理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536192"/>
            <a:ext cx="106070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 i="0">
                <a:solidFill>
                  <a:srgbClr val="F2E9D6"/>
                </a:solidFill>
                <a:latin typeface="Songti SC"/>
                <a:ea typeface="Songti SC"/>
              </a:rPr>
              <a:t>第二步：打开浏览器扩展管理页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2514600"/>
            <a:ext cx="365760" cy="365760"/>
          </a:xfrm>
          <a:prstGeom prst="ellipse">
            <a:avLst/>
          </a:prstGeom>
          <a:solidFill>
            <a:srgbClr val="C9A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 i="0">
                <a:solidFill>
                  <a:srgbClr val="18110E"/>
                </a:solidFill>
                <a:latin typeface="Times New Roman"/>
                <a:ea typeface="Times New Roman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468880"/>
            <a:ext cx="50292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F2E9D6"/>
                </a:solidFill>
                <a:latin typeface="Microsoft YaHei"/>
                <a:ea typeface="Microsoft YaHei"/>
              </a:rPr>
              <a:t>地址栏输入 chrome://extensions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C3B498"/>
                </a:solidFill>
                <a:latin typeface="Microsoft YaHei"/>
                <a:ea typeface="Microsoft YaHei"/>
              </a:rPr>
              <a:t>Edge 浏览器输入 edge://extensions，回车。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3355848"/>
            <a:ext cx="365760" cy="365760"/>
          </a:xfrm>
          <a:prstGeom prst="ellipse">
            <a:avLst/>
          </a:prstGeom>
          <a:solidFill>
            <a:srgbClr val="C9A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 i="0">
                <a:solidFill>
                  <a:srgbClr val="18110E"/>
                </a:solidFill>
                <a:latin typeface="Times New Roman"/>
                <a:ea typeface="Times New Roman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310128"/>
            <a:ext cx="50292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F2E9D6"/>
                </a:solidFill>
                <a:latin typeface="Microsoft YaHei"/>
                <a:ea typeface="Microsoft YaHei"/>
              </a:rPr>
              <a:t>或从菜单进入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C3B498"/>
                </a:solidFill>
                <a:latin typeface="Microsoft YaHei"/>
                <a:ea typeface="Microsoft YaHei"/>
              </a:rPr>
              <a:t>右上角 ⋮ →「扩展」→「管理扩展程序」。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4197096"/>
            <a:ext cx="365760" cy="365760"/>
          </a:xfrm>
          <a:prstGeom prst="ellipse">
            <a:avLst/>
          </a:prstGeom>
          <a:solidFill>
            <a:srgbClr val="C9A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 i="0">
                <a:solidFill>
                  <a:srgbClr val="18110E"/>
                </a:solidFill>
                <a:latin typeface="Times New Roman"/>
                <a:ea typeface="Times New Roman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151376"/>
            <a:ext cx="50292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F2E9D6"/>
                </a:solidFill>
                <a:latin typeface="Microsoft YaHei"/>
                <a:ea typeface="Microsoft YaHei"/>
              </a:rPr>
              <a:t>看到扩展程序列表页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C3B498"/>
                </a:solidFill>
                <a:latin typeface="Microsoft YaHei"/>
                <a:ea typeface="Microsoft YaHei"/>
              </a:rPr>
              <a:t>即右图这个页面。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91656" y="2679192"/>
            <a:ext cx="5321808" cy="3236976"/>
          </a:xfrm>
          <a:prstGeom prst="rect">
            <a:avLst/>
          </a:prstGeom>
          <a:solidFill>
            <a:srgbClr val="241B16"/>
          </a:solidFill>
          <a:ln w="12700">
            <a:solidFill>
              <a:srgbClr val="C9A8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r_e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2734056"/>
            <a:ext cx="5212080" cy="312724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0881360" y="640080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C9A85F"/>
                </a:solidFill>
                <a:latin typeface="Times New Roman"/>
                <a:ea typeface="Times New Roman"/>
              </a:rPr>
              <a:t>04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1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 i="0">
                <a:solidFill>
                  <a:srgbClr val="C9A85F"/>
                </a:solidFill>
                <a:latin typeface="Songti SC"/>
                <a:ea typeface="Songti SC"/>
              </a:rPr>
              <a:t>朱砂</a:t>
            </a:r>
            <a:r>
              <a:rPr sz="1300" b="0" i="0">
                <a:solidFill>
                  <a:srgbClr val="9C8F7C"/>
                </a:solidFill>
                <a:latin typeface="Songti SC"/>
                <a:ea typeface="Songti SC"/>
              </a:rPr>
              <a:t> · </a:t>
            </a:r>
            <a:r>
              <a:rPr sz="1300" b="1" i="0">
                <a:solidFill>
                  <a:srgbClr val="F2E9D6"/>
                </a:solidFill>
                <a:latin typeface="Songti SC"/>
                <a:ea typeface="Songti SC"/>
              </a:rPr>
              <a:t>操盘台</a:t>
            </a:r>
            <a:r>
              <a:rPr sz="900" b="0" i="0" spc="200">
                <a:solidFill>
                  <a:srgbClr val="9C8F7C"/>
                </a:solidFill>
                <a:latin typeface="Times New Roman"/>
                <a:ea typeface="Times New Roman"/>
              </a:rPr>
              <a:t>   VERTICAL AGENT STUDIO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024128"/>
            <a:ext cx="11064239" cy="0"/>
          </a:xfrm>
          <a:prstGeom prst="bentConnector3">
            <a:avLst/>
          </a:prstGeom>
          <a:ln w="9525">
            <a:solidFill>
              <a:srgbClr val="3A2C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118872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 i="0" spc="300">
                <a:solidFill>
                  <a:srgbClr val="C9A85F"/>
                </a:solidFill>
                <a:latin typeface="Times New Roman"/>
                <a:ea typeface="Times New Roman"/>
              </a:rPr>
              <a:t>STEP 03 · 开发者模式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536192"/>
            <a:ext cx="106070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 i="0">
                <a:solidFill>
                  <a:srgbClr val="F2E9D6"/>
                </a:solidFill>
                <a:latin typeface="Songti SC"/>
                <a:ea typeface="Songti SC"/>
              </a:rPr>
              <a:t>第三步：打开右上角「开发者模式」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2514600"/>
            <a:ext cx="365760" cy="365760"/>
          </a:xfrm>
          <a:prstGeom prst="ellipse">
            <a:avLst/>
          </a:prstGeom>
          <a:solidFill>
            <a:srgbClr val="C9A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 i="0">
                <a:solidFill>
                  <a:srgbClr val="18110E"/>
                </a:solidFill>
                <a:latin typeface="Times New Roman"/>
                <a:ea typeface="Times New Roman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468880"/>
            <a:ext cx="50292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F2E9D6"/>
                </a:solidFill>
                <a:latin typeface="Microsoft YaHei"/>
                <a:ea typeface="Microsoft YaHei"/>
              </a:rPr>
              <a:t>找到右上角「开发者模式」开关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C3B498"/>
                </a:solidFill>
                <a:latin typeface="Microsoft YaHei"/>
                <a:ea typeface="Microsoft YaHei"/>
              </a:rPr>
              <a:t>把它打开（变蓝，见右图右上角）。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3355848"/>
            <a:ext cx="365760" cy="365760"/>
          </a:xfrm>
          <a:prstGeom prst="ellipse">
            <a:avLst/>
          </a:prstGeom>
          <a:solidFill>
            <a:srgbClr val="C9A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 i="0">
                <a:solidFill>
                  <a:srgbClr val="18110E"/>
                </a:solidFill>
                <a:latin typeface="Times New Roman"/>
                <a:ea typeface="Times New Roman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310128"/>
            <a:ext cx="50292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F2E9D6"/>
                </a:solidFill>
                <a:latin typeface="Microsoft YaHei"/>
                <a:ea typeface="Microsoft YaHei"/>
              </a:rPr>
              <a:t>页面顶部会多出按钮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C3B498"/>
                </a:solidFill>
                <a:latin typeface="Microsoft YaHei"/>
                <a:ea typeface="Microsoft YaHei"/>
              </a:rPr>
              <a:t>出现「加载已解压的扩展程序」等三个按钮。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91656" y="2679192"/>
            <a:ext cx="5321808" cy="3236976"/>
          </a:xfrm>
          <a:prstGeom prst="rect">
            <a:avLst/>
          </a:prstGeom>
          <a:solidFill>
            <a:srgbClr val="241B16"/>
          </a:solidFill>
          <a:ln w="12700">
            <a:solidFill>
              <a:srgbClr val="C9A8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r_e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2734056"/>
            <a:ext cx="5212080" cy="3127248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566928" y="5943600"/>
            <a:ext cx="11064240" cy="548640"/>
          </a:xfrm>
          <a:prstGeom prst="rect">
            <a:avLst/>
          </a:prstGeom>
          <a:solidFill>
            <a:srgbClr val="241B16"/>
          </a:solidFill>
          <a:ln w="12700">
            <a:solidFill>
              <a:srgbClr val="C9A8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60350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 i="0">
                <a:solidFill>
                  <a:srgbClr val="C9A85F"/>
                </a:solidFill>
                <a:latin typeface="Microsoft YaHei"/>
                <a:ea typeface="Microsoft YaHei"/>
              </a:rPr>
              <a:t>⚠ </a:t>
            </a:r>
            <a:r>
              <a:rPr sz="1200" b="0" i="0">
                <a:solidFill>
                  <a:srgbClr val="F2E9D6"/>
                </a:solidFill>
                <a:latin typeface="Microsoft YaHei"/>
                <a:ea typeface="Microsoft YaHei"/>
              </a:rPr>
              <a:t>没有这三个按钮，就是「开发者模式」还没打开——务必先打开它。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40080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C9A85F"/>
                </a:solidFill>
                <a:latin typeface="Times New Roman"/>
                <a:ea typeface="Times New Roman"/>
              </a:rPr>
              <a:t>05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1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 i="0">
                <a:solidFill>
                  <a:srgbClr val="C9A85F"/>
                </a:solidFill>
                <a:latin typeface="Songti SC"/>
                <a:ea typeface="Songti SC"/>
              </a:rPr>
              <a:t>朱砂</a:t>
            </a:r>
            <a:r>
              <a:rPr sz="1300" b="0" i="0">
                <a:solidFill>
                  <a:srgbClr val="9C8F7C"/>
                </a:solidFill>
                <a:latin typeface="Songti SC"/>
                <a:ea typeface="Songti SC"/>
              </a:rPr>
              <a:t> · </a:t>
            </a:r>
            <a:r>
              <a:rPr sz="1300" b="1" i="0">
                <a:solidFill>
                  <a:srgbClr val="F2E9D6"/>
                </a:solidFill>
                <a:latin typeface="Songti SC"/>
                <a:ea typeface="Songti SC"/>
              </a:rPr>
              <a:t>操盘台</a:t>
            </a:r>
            <a:r>
              <a:rPr sz="900" b="0" i="0" spc="200">
                <a:solidFill>
                  <a:srgbClr val="9C8F7C"/>
                </a:solidFill>
                <a:latin typeface="Times New Roman"/>
                <a:ea typeface="Times New Roman"/>
              </a:rPr>
              <a:t>   VERTICAL AGENT STUDIO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024128"/>
            <a:ext cx="11064239" cy="0"/>
          </a:xfrm>
          <a:prstGeom prst="bentConnector3">
            <a:avLst/>
          </a:prstGeom>
          <a:ln w="9525">
            <a:solidFill>
              <a:srgbClr val="3A2C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118872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 i="0" spc="300">
                <a:solidFill>
                  <a:srgbClr val="C9A85F"/>
                </a:solidFill>
                <a:latin typeface="Times New Roman"/>
                <a:ea typeface="Times New Roman"/>
              </a:rPr>
              <a:t>STEP 04 · 加载插件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536192"/>
            <a:ext cx="106070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 i="0">
                <a:solidFill>
                  <a:srgbClr val="F2E9D6"/>
                </a:solidFill>
                <a:latin typeface="Songti SC"/>
                <a:ea typeface="Songti SC"/>
              </a:rPr>
              <a:t>第四步：加载已解压的扩展程序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2514600"/>
            <a:ext cx="365760" cy="365760"/>
          </a:xfrm>
          <a:prstGeom prst="ellipse">
            <a:avLst/>
          </a:prstGeom>
          <a:solidFill>
            <a:srgbClr val="C9A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 i="0">
                <a:solidFill>
                  <a:srgbClr val="18110E"/>
                </a:solidFill>
                <a:latin typeface="Times New Roman"/>
                <a:ea typeface="Times New Roman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468880"/>
            <a:ext cx="50292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F2E9D6"/>
                </a:solidFill>
                <a:latin typeface="Microsoft YaHei"/>
                <a:ea typeface="Microsoft YaHei"/>
              </a:rPr>
              <a:t>点「加载已解压的扩展程序」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C3B498"/>
                </a:solidFill>
                <a:latin typeface="Microsoft YaHei"/>
                <a:ea typeface="Microsoft YaHei"/>
              </a:rPr>
              <a:t>英文界面是 Load unpacked。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3355848"/>
            <a:ext cx="365760" cy="365760"/>
          </a:xfrm>
          <a:prstGeom prst="ellipse">
            <a:avLst/>
          </a:prstGeom>
          <a:solidFill>
            <a:srgbClr val="C9A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 i="0">
                <a:solidFill>
                  <a:srgbClr val="18110E"/>
                </a:solidFill>
                <a:latin typeface="Times New Roman"/>
                <a:ea typeface="Times New Roman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310128"/>
            <a:ext cx="50292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F2E9D6"/>
                </a:solidFill>
                <a:latin typeface="Microsoft YaHei"/>
                <a:ea typeface="Microsoft YaHei"/>
              </a:rPr>
              <a:t>选中第 1 步解压出的文件夹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C3B498"/>
                </a:solidFill>
                <a:latin typeface="Microsoft YaHei"/>
                <a:ea typeface="Microsoft YaHei"/>
              </a:rPr>
              <a:t>注意选文件夹本身（右图蓝色项），不是里面的文件。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4197096"/>
            <a:ext cx="365760" cy="365760"/>
          </a:xfrm>
          <a:prstGeom prst="ellipse">
            <a:avLst/>
          </a:prstGeom>
          <a:solidFill>
            <a:srgbClr val="C9A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 i="0">
                <a:solidFill>
                  <a:srgbClr val="18110E"/>
                </a:solidFill>
                <a:latin typeface="Times New Roman"/>
                <a:ea typeface="Times New Roman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151376"/>
            <a:ext cx="50292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F2E9D6"/>
                </a:solidFill>
                <a:latin typeface="Microsoft YaHei"/>
                <a:ea typeface="Microsoft YaHei"/>
              </a:rPr>
              <a:t>列表出现「朱砂助手」即成功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C3B498"/>
                </a:solidFill>
                <a:latin typeface="Microsoft YaHei"/>
                <a:ea typeface="Microsoft YaHei"/>
              </a:rPr>
              <a:t>能看到图标与版本号 0.9.9。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91656" y="2621280"/>
            <a:ext cx="5321808" cy="3352800"/>
          </a:xfrm>
          <a:prstGeom prst="rect">
            <a:avLst/>
          </a:prstGeom>
          <a:solidFill>
            <a:srgbClr val="241B16"/>
          </a:solidFill>
          <a:ln w="12700">
            <a:solidFill>
              <a:srgbClr val="C9A8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m_lo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2676144"/>
            <a:ext cx="5212080" cy="3243072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566928" y="5943600"/>
            <a:ext cx="11064240" cy="548640"/>
          </a:xfrm>
          <a:prstGeom prst="rect">
            <a:avLst/>
          </a:prstGeom>
          <a:solidFill>
            <a:srgbClr val="241B16"/>
          </a:solidFill>
          <a:ln w="12700">
            <a:solidFill>
              <a:srgbClr val="C9A8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60350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 i="0">
                <a:solidFill>
                  <a:srgbClr val="C9A85F"/>
                </a:solidFill>
                <a:latin typeface="Microsoft YaHei"/>
                <a:ea typeface="Microsoft YaHei"/>
              </a:rPr>
              <a:t>⚠ </a:t>
            </a:r>
            <a:r>
              <a:rPr sz="1200" b="0" i="0">
                <a:solidFill>
                  <a:srgbClr val="F2E9D6"/>
                </a:solidFill>
                <a:latin typeface="Microsoft YaHei"/>
                <a:ea typeface="Microsoft YaHei"/>
              </a:rPr>
              <a:t>报错「缺少 manifest」= 选错层级，请选到含 manifest.json 的那层文件夹。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0080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C9A85F"/>
                </a:solidFill>
                <a:latin typeface="Times New Roman"/>
                <a:ea typeface="Times New Roman"/>
              </a:rPr>
              <a:t>06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1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 i="0">
                <a:solidFill>
                  <a:srgbClr val="C9A85F"/>
                </a:solidFill>
                <a:latin typeface="Songti SC"/>
                <a:ea typeface="Songti SC"/>
              </a:rPr>
              <a:t>朱砂</a:t>
            </a:r>
            <a:r>
              <a:rPr sz="1300" b="0" i="0">
                <a:solidFill>
                  <a:srgbClr val="9C8F7C"/>
                </a:solidFill>
                <a:latin typeface="Songti SC"/>
                <a:ea typeface="Songti SC"/>
              </a:rPr>
              <a:t> · </a:t>
            </a:r>
            <a:r>
              <a:rPr sz="1300" b="1" i="0">
                <a:solidFill>
                  <a:srgbClr val="F2E9D6"/>
                </a:solidFill>
                <a:latin typeface="Songti SC"/>
                <a:ea typeface="Songti SC"/>
              </a:rPr>
              <a:t>操盘台</a:t>
            </a:r>
            <a:r>
              <a:rPr sz="900" b="0" i="0" spc="200">
                <a:solidFill>
                  <a:srgbClr val="9C8F7C"/>
                </a:solidFill>
                <a:latin typeface="Times New Roman"/>
                <a:ea typeface="Times New Roman"/>
              </a:rPr>
              <a:t>   VERTICAL AGENT STUDIO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024128"/>
            <a:ext cx="11064239" cy="0"/>
          </a:xfrm>
          <a:prstGeom prst="bentConnector3">
            <a:avLst/>
          </a:prstGeom>
          <a:ln w="9525">
            <a:solidFill>
              <a:srgbClr val="3A2C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118872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 i="0" spc="300">
                <a:solidFill>
                  <a:srgbClr val="C9A85F"/>
                </a:solidFill>
                <a:latin typeface="Times New Roman"/>
                <a:ea typeface="Times New Roman"/>
              </a:rPr>
              <a:t>STEP 05 · 固定 + 登录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536192"/>
            <a:ext cx="106070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 i="0">
                <a:solidFill>
                  <a:srgbClr val="F2E9D6"/>
                </a:solidFill>
                <a:latin typeface="Songti SC"/>
                <a:ea typeface="Songti SC"/>
              </a:rPr>
              <a:t>第五步：固定图标并保持登录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2514600"/>
            <a:ext cx="365760" cy="365760"/>
          </a:xfrm>
          <a:prstGeom prst="ellipse">
            <a:avLst/>
          </a:prstGeom>
          <a:solidFill>
            <a:srgbClr val="C9A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 i="0">
                <a:solidFill>
                  <a:srgbClr val="18110E"/>
                </a:solidFill>
                <a:latin typeface="Times New Roman"/>
                <a:ea typeface="Times New Roman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468880"/>
            <a:ext cx="10332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F2E9D6"/>
                </a:solidFill>
                <a:latin typeface="Microsoft YaHei"/>
                <a:ea typeface="Microsoft YaHei"/>
              </a:rPr>
              <a:t>点扩展栏拼图图标 🧩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C3B498"/>
                </a:solidFill>
                <a:latin typeface="Microsoft YaHei"/>
                <a:ea typeface="Microsoft YaHei"/>
              </a:rPr>
              <a:t>把「朱砂助手」点为固定，图标常驻工具栏。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3355848"/>
            <a:ext cx="365760" cy="365760"/>
          </a:xfrm>
          <a:prstGeom prst="ellipse">
            <a:avLst/>
          </a:prstGeom>
          <a:solidFill>
            <a:srgbClr val="C9A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 i="0">
                <a:solidFill>
                  <a:srgbClr val="18110E"/>
                </a:solidFill>
                <a:latin typeface="Times New Roman"/>
                <a:ea typeface="Times New Roman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310128"/>
            <a:ext cx="10332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F2E9D6"/>
                </a:solidFill>
                <a:latin typeface="Microsoft YaHei"/>
                <a:ea typeface="Microsoft YaHei"/>
              </a:rPr>
              <a:t>确认已登录朱砂操盘台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C3B498"/>
                </a:solidFill>
                <a:latin typeface="Microsoft YaHei"/>
                <a:ea typeface="Microsoft YaHei"/>
              </a:rPr>
              <a:t>插件自动读取登录态，无需重复输入。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0080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C9A85F"/>
                </a:solidFill>
                <a:latin typeface="Times New Roman"/>
                <a:ea typeface="Times New Roman"/>
              </a:rPr>
              <a:t>07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1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 i="0">
                <a:solidFill>
                  <a:srgbClr val="C9A85F"/>
                </a:solidFill>
                <a:latin typeface="Songti SC"/>
                <a:ea typeface="Songti SC"/>
              </a:rPr>
              <a:t>朱砂</a:t>
            </a:r>
            <a:r>
              <a:rPr sz="1300" b="0" i="0">
                <a:solidFill>
                  <a:srgbClr val="9C8F7C"/>
                </a:solidFill>
                <a:latin typeface="Songti SC"/>
                <a:ea typeface="Songti SC"/>
              </a:rPr>
              <a:t> · </a:t>
            </a:r>
            <a:r>
              <a:rPr sz="1300" b="1" i="0">
                <a:solidFill>
                  <a:srgbClr val="F2E9D6"/>
                </a:solidFill>
                <a:latin typeface="Songti SC"/>
                <a:ea typeface="Songti SC"/>
              </a:rPr>
              <a:t>操盘台</a:t>
            </a:r>
            <a:r>
              <a:rPr sz="900" b="0" i="0" spc="200">
                <a:solidFill>
                  <a:srgbClr val="9C8F7C"/>
                </a:solidFill>
                <a:latin typeface="Times New Roman"/>
                <a:ea typeface="Times New Roman"/>
              </a:rPr>
              <a:t>   VERTICAL AGENT STUDIO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024128"/>
            <a:ext cx="11064239" cy="0"/>
          </a:xfrm>
          <a:prstGeom prst="bentConnector3">
            <a:avLst/>
          </a:prstGeom>
          <a:ln w="9525">
            <a:solidFill>
              <a:srgbClr val="3A2C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118872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 i="0" spc="300">
                <a:solidFill>
                  <a:srgbClr val="C9A85F"/>
                </a:solidFill>
                <a:latin typeface="Times New Roman"/>
                <a:ea typeface="Times New Roman"/>
              </a:rPr>
              <a:t>STEP 06 · 设为执行设备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536192"/>
            <a:ext cx="106070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 i="0">
                <a:solidFill>
                  <a:srgbClr val="F2E9D6"/>
                </a:solidFill>
                <a:latin typeface="Songti SC"/>
                <a:ea typeface="Songti SC"/>
              </a:rPr>
              <a:t>第六步：把本机设为执行设备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2514600"/>
            <a:ext cx="365760" cy="365760"/>
          </a:xfrm>
          <a:prstGeom prst="ellipse">
            <a:avLst/>
          </a:prstGeom>
          <a:solidFill>
            <a:srgbClr val="C9A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 i="0">
                <a:solidFill>
                  <a:srgbClr val="18110E"/>
                </a:solidFill>
                <a:latin typeface="Times New Roman"/>
                <a:ea typeface="Times New Roman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468880"/>
            <a:ext cx="50292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F2E9D6"/>
                </a:solidFill>
                <a:latin typeface="Microsoft YaHei"/>
                <a:ea typeface="Microsoft YaHei"/>
              </a:rPr>
              <a:t>点工具栏「朱砂助手」图标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C3B498"/>
                </a:solidFill>
                <a:latin typeface="Microsoft YaHei"/>
                <a:ea typeface="Microsoft YaHei"/>
              </a:rPr>
              <a:t>打开插件弹窗（见右图）。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3355848"/>
            <a:ext cx="365760" cy="365760"/>
          </a:xfrm>
          <a:prstGeom prst="ellipse">
            <a:avLst/>
          </a:prstGeom>
          <a:solidFill>
            <a:srgbClr val="C9A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 i="0">
                <a:solidFill>
                  <a:srgbClr val="18110E"/>
                </a:solidFill>
                <a:latin typeface="Times New Roman"/>
                <a:ea typeface="Times New Roman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310128"/>
            <a:ext cx="50292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F2E9D6"/>
                </a:solidFill>
                <a:latin typeface="Microsoft YaHei"/>
                <a:ea typeface="Microsoft YaHei"/>
              </a:rPr>
              <a:t>开「本机作为执行设备」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C3B498"/>
                </a:solidFill>
                <a:latin typeface="Microsoft YaHei"/>
                <a:ea typeface="Microsoft YaHei"/>
              </a:rPr>
              <a:t>本机即出现在「设备看板」，状态=休息中。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4197096"/>
            <a:ext cx="365760" cy="365760"/>
          </a:xfrm>
          <a:prstGeom prst="ellipse">
            <a:avLst/>
          </a:prstGeom>
          <a:solidFill>
            <a:srgbClr val="C9A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 i="0">
                <a:solidFill>
                  <a:srgbClr val="18110E"/>
                </a:solidFill>
                <a:latin typeface="Times New Roman"/>
                <a:ea typeface="Times New Roman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151376"/>
            <a:ext cx="50292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F2E9D6"/>
                </a:solidFill>
                <a:latin typeface="Microsoft YaHei"/>
                <a:ea typeface="Microsoft YaHei"/>
              </a:rPr>
              <a:t>开「前台观看模式」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C3B498"/>
                </a:solidFill>
                <a:latin typeface="Microsoft YaHei"/>
                <a:ea typeface="Microsoft YaHei"/>
              </a:rPr>
              <a:t>可前台看到自动操作过程，更放心（可选）。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56724" y="2414016"/>
            <a:ext cx="2591670" cy="3767328"/>
          </a:xfrm>
          <a:prstGeom prst="rect">
            <a:avLst/>
          </a:prstGeom>
          <a:solidFill>
            <a:srgbClr val="241B16"/>
          </a:solidFill>
          <a:ln w="12700">
            <a:solidFill>
              <a:srgbClr val="C9A8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s_pop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1588" y="2468880"/>
            <a:ext cx="2481942" cy="36576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0881360" y="640080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C9A85F"/>
                </a:solidFill>
                <a:latin typeface="Times New Roman"/>
                <a:ea typeface="Times New Roman"/>
              </a:rPr>
              <a:t>08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1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 i="0">
                <a:solidFill>
                  <a:srgbClr val="C9A85F"/>
                </a:solidFill>
                <a:latin typeface="Songti SC"/>
                <a:ea typeface="Songti SC"/>
              </a:rPr>
              <a:t>朱砂</a:t>
            </a:r>
            <a:r>
              <a:rPr sz="1300" b="0" i="0">
                <a:solidFill>
                  <a:srgbClr val="9C8F7C"/>
                </a:solidFill>
                <a:latin typeface="Songti SC"/>
                <a:ea typeface="Songti SC"/>
              </a:rPr>
              <a:t> · </a:t>
            </a:r>
            <a:r>
              <a:rPr sz="1300" b="1" i="0">
                <a:solidFill>
                  <a:srgbClr val="F2E9D6"/>
                </a:solidFill>
                <a:latin typeface="Songti SC"/>
                <a:ea typeface="Songti SC"/>
              </a:rPr>
              <a:t>操盘台</a:t>
            </a:r>
            <a:r>
              <a:rPr sz="900" b="0" i="0" spc="200">
                <a:solidFill>
                  <a:srgbClr val="9C8F7C"/>
                </a:solidFill>
                <a:latin typeface="Times New Roman"/>
                <a:ea typeface="Times New Roman"/>
              </a:rPr>
              <a:t>   VERTICAL AGENT STUDIO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024128"/>
            <a:ext cx="11064239" cy="0"/>
          </a:xfrm>
          <a:prstGeom prst="bentConnector3">
            <a:avLst/>
          </a:prstGeom>
          <a:ln w="9525">
            <a:solidFill>
              <a:srgbClr val="3A2C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118872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 i="0" spc="300">
                <a:solidFill>
                  <a:srgbClr val="C9A85F"/>
                </a:solidFill>
                <a:latin typeface="Times New Roman"/>
                <a:ea typeface="Times New Roman"/>
              </a:rPr>
              <a:t>STEP 07 · 建计划下发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536192"/>
            <a:ext cx="106070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 i="0">
                <a:solidFill>
                  <a:srgbClr val="F2E9D6"/>
                </a:solidFill>
                <a:latin typeface="Songti SC"/>
                <a:ea typeface="Songti SC"/>
              </a:rPr>
              <a:t>第七步：建养号/截流计划并下发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2514600"/>
            <a:ext cx="365760" cy="365760"/>
          </a:xfrm>
          <a:prstGeom prst="ellipse">
            <a:avLst/>
          </a:prstGeom>
          <a:solidFill>
            <a:srgbClr val="C9A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 i="0">
                <a:solidFill>
                  <a:srgbClr val="18110E"/>
                </a:solidFill>
                <a:latin typeface="Times New Roman"/>
                <a:ea typeface="Times New Roman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468880"/>
            <a:ext cx="50292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F2E9D6"/>
                </a:solidFill>
                <a:latin typeface="Microsoft YaHei"/>
                <a:ea typeface="Microsoft YaHei"/>
              </a:rPr>
              <a:t>进「养号/截流计划」新建计划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C3B498"/>
                </a:solidFill>
                <a:latin typeface="Microsoft YaHei"/>
                <a:ea typeface="Microsoft YaHei"/>
              </a:rPr>
              <a:t>选养号或截流，填关键词、各项互动比例（见右图）。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3355848"/>
            <a:ext cx="365760" cy="365760"/>
          </a:xfrm>
          <a:prstGeom prst="ellipse">
            <a:avLst/>
          </a:prstGeom>
          <a:solidFill>
            <a:srgbClr val="C9A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 i="0">
                <a:solidFill>
                  <a:srgbClr val="18110E"/>
                </a:solidFill>
                <a:latin typeface="Times New Roman"/>
                <a:ea typeface="Times New Roman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310128"/>
            <a:ext cx="50292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F2E9D6"/>
                </a:solidFill>
                <a:latin typeface="Microsoft YaHei"/>
                <a:ea typeface="Microsoft YaHei"/>
              </a:rPr>
              <a:t>点 📤 下发，选本机设备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C3B498"/>
                </a:solidFill>
                <a:latin typeface="Microsoft YaHei"/>
                <a:ea typeface="Microsoft YaHei"/>
              </a:rPr>
              <a:t>任务进入设备待领取队列。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4197096"/>
            <a:ext cx="365760" cy="365760"/>
          </a:xfrm>
          <a:prstGeom prst="ellipse">
            <a:avLst/>
          </a:prstGeom>
          <a:solidFill>
            <a:srgbClr val="C9A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 i="0">
                <a:solidFill>
                  <a:srgbClr val="18110E"/>
                </a:solidFill>
                <a:latin typeface="Times New Roman"/>
                <a:ea typeface="Times New Roman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151376"/>
            <a:ext cx="50292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F2E9D6"/>
                </a:solidFill>
                <a:latin typeface="Microsoft YaHei"/>
                <a:ea typeface="Microsoft YaHei"/>
              </a:rPr>
              <a:t>回「设备看板」看状态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C3B498"/>
                </a:solidFill>
                <a:latin typeface="Microsoft YaHei"/>
                <a:ea typeface="Microsoft YaHei"/>
              </a:rPr>
              <a:t>休息中→工作中即已开始。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56832" y="2414016"/>
            <a:ext cx="4791456" cy="3767328"/>
          </a:xfrm>
          <a:prstGeom prst="rect">
            <a:avLst/>
          </a:prstGeom>
          <a:solidFill>
            <a:srgbClr val="241B16"/>
          </a:solidFill>
          <a:ln w="12700">
            <a:solidFill>
              <a:srgbClr val="C9A8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s_pl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1696" y="2468880"/>
            <a:ext cx="4681728" cy="365760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566928" y="5943600"/>
            <a:ext cx="11064240" cy="548640"/>
          </a:xfrm>
          <a:prstGeom prst="rect">
            <a:avLst/>
          </a:prstGeom>
          <a:solidFill>
            <a:srgbClr val="241B16"/>
          </a:solidFill>
          <a:ln w="12700">
            <a:solidFill>
              <a:srgbClr val="C9A8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60350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 i="0">
                <a:solidFill>
                  <a:srgbClr val="C9A85F"/>
                </a:solidFill>
                <a:latin typeface="Microsoft YaHei"/>
                <a:ea typeface="Microsoft YaHei"/>
              </a:rPr>
              <a:t>⚠ </a:t>
            </a:r>
            <a:r>
              <a:rPr sz="1200" b="0" i="0">
                <a:solidFill>
                  <a:srgbClr val="F2E9D6"/>
                </a:solidFill>
                <a:latin typeface="Microsoft YaHei"/>
                <a:ea typeface="Microsoft YaHei"/>
              </a:rPr>
              <a:t>自动互动属灰色操作，请保守低频：默认只养号，截流回复/私信尽量 0。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0080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C9A85F"/>
                </a:solidFill>
                <a:latin typeface="Times New Roman"/>
                <a:ea typeface="Times New Roman"/>
              </a:rPr>
              <a:t>09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1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 i="0">
                <a:solidFill>
                  <a:srgbClr val="C9A85F"/>
                </a:solidFill>
                <a:latin typeface="Songti SC"/>
                <a:ea typeface="Songti SC"/>
              </a:rPr>
              <a:t>朱砂</a:t>
            </a:r>
            <a:r>
              <a:rPr sz="1300" b="0" i="0">
                <a:solidFill>
                  <a:srgbClr val="9C8F7C"/>
                </a:solidFill>
                <a:latin typeface="Songti SC"/>
                <a:ea typeface="Songti SC"/>
              </a:rPr>
              <a:t> · </a:t>
            </a:r>
            <a:r>
              <a:rPr sz="1300" b="1" i="0">
                <a:solidFill>
                  <a:srgbClr val="F2E9D6"/>
                </a:solidFill>
                <a:latin typeface="Songti SC"/>
                <a:ea typeface="Songti SC"/>
              </a:rPr>
              <a:t>操盘台</a:t>
            </a:r>
            <a:r>
              <a:rPr sz="900" b="0" i="0" spc="200">
                <a:solidFill>
                  <a:srgbClr val="9C8F7C"/>
                </a:solidFill>
                <a:latin typeface="Times New Roman"/>
                <a:ea typeface="Times New Roman"/>
              </a:rPr>
              <a:t>   VERTICAL AGENT STUDIO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024128"/>
            <a:ext cx="11064239" cy="0"/>
          </a:xfrm>
          <a:prstGeom prst="bentConnector3">
            <a:avLst/>
          </a:prstGeom>
          <a:ln w="9525">
            <a:solidFill>
              <a:srgbClr val="3A2C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118872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 i="0" spc="300">
                <a:solidFill>
                  <a:srgbClr val="C9A85F"/>
                </a:solidFill>
                <a:latin typeface="Times New Roman"/>
                <a:ea typeface="Times New Roman"/>
              </a:rPr>
              <a:t>MONITOR · 设备看板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536192"/>
            <a:ext cx="106070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 i="0">
                <a:solidFill>
                  <a:srgbClr val="F2E9D6"/>
                </a:solidFill>
                <a:latin typeface="Songti SC"/>
                <a:ea typeface="Songti SC"/>
              </a:rPr>
              <a:t>在「设备看板」实时盯执行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2514600"/>
            <a:ext cx="365760" cy="365760"/>
          </a:xfrm>
          <a:prstGeom prst="ellipse">
            <a:avLst/>
          </a:prstGeom>
          <a:solidFill>
            <a:srgbClr val="C9A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 i="0">
                <a:solidFill>
                  <a:srgbClr val="18110E"/>
                </a:solidFill>
                <a:latin typeface="Times New Roman"/>
                <a:ea typeface="Times New Roman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468880"/>
            <a:ext cx="50292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F2E9D6"/>
                </a:solidFill>
                <a:latin typeface="Microsoft YaHei"/>
                <a:ea typeface="Microsoft YaHei"/>
              </a:rPr>
              <a:t>每台在线设备一张卡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C3B498"/>
                </a:solidFill>
                <a:latin typeface="Microsoft YaHei"/>
                <a:ea typeface="Microsoft YaHei"/>
              </a:rPr>
              <a:t>显示名称、状态（休息中/工作中/离线）。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3355848"/>
            <a:ext cx="365760" cy="365760"/>
          </a:xfrm>
          <a:prstGeom prst="ellipse">
            <a:avLst/>
          </a:prstGeom>
          <a:solidFill>
            <a:srgbClr val="C9A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 i="0">
                <a:solidFill>
                  <a:srgbClr val="18110E"/>
                </a:solidFill>
                <a:latin typeface="Times New Roman"/>
                <a:ea typeface="Times New Roman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310128"/>
            <a:ext cx="50292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F2E9D6"/>
                </a:solidFill>
                <a:latin typeface="Microsoft YaHei"/>
                <a:ea typeface="Microsoft YaHei"/>
              </a:rPr>
              <a:t>可编辑名称、清理离线设备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C3B498"/>
                </a:solidFill>
                <a:latin typeface="Microsoft YaHei"/>
                <a:ea typeface="Microsoft YaHei"/>
              </a:rPr>
              <a:t>多机农场也一目了然。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4197096"/>
            <a:ext cx="365760" cy="365760"/>
          </a:xfrm>
          <a:prstGeom prst="ellipse">
            <a:avLst/>
          </a:prstGeom>
          <a:solidFill>
            <a:srgbClr val="C9A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 i="0">
                <a:solidFill>
                  <a:srgbClr val="18110E"/>
                </a:solidFill>
                <a:latin typeface="Times New Roman"/>
                <a:ea typeface="Times New Roman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151376"/>
            <a:ext cx="50292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F2E9D6"/>
                </a:solidFill>
                <a:latin typeface="Microsoft YaHei"/>
                <a:ea typeface="Microsoft YaHei"/>
              </a:rPr>
              <a:t>出验证码会自动停止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C3B498"/>
                </a:solidFill>
                <a:latin typeface="Microsoft YaHei"/>
                <a:ea typeface="Microsoft YaHei"/>
              </a:rPr>
              <a:t>属正常保护，手动过验证后可再下发。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96736" y="2414016"/>
            <a:ext cx="5311648" cy="3767328"/>
          </a:xfrm>
          <a:prstGeom prst="rect">
            <a:avLst/>
          </a:prstGeom>
          <a:solidFill>
            <a:srgbClr val="241B16"/>
          </a:solidFill>
          <a:ln w="12700">
            <a:solidFill>
              <a:srgbClr val="C9A8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s_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1600" y="2468880"/>
            <a:ext cx="5201920" cy="36576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0881360" y="640080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C9A85F"/>
                </a:solidFill>
                <a:latin typeface="Times New Roman"/>
                <a:ea typeface="Times New Roman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1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 i="0">
                <a:solidFill>
                  <a:srgbClr val="C9A85F"/>
                </a:solidFill>
                <a:latin typeface="Songti SC"/>
                <a:ea typeface="Songti SC"/>
              </a:rPr>
              <a:t>朱砂</a:t>
            </a:r>
            <a:r>
              <a:rPr sz="1300" b="0" i="0">
                <a:solidFill>
                  <a:srgbClr val="9C8F7C"/>
                </a:solidFill>
                <a:latin typeface="Songti SC"/>
                <a:ea typeface="Songti SC"/>
              </a:rPr>
              <a:t> · </a:t>
            </a:r>
            <a:r>
              <a:rPr sz="1300" b="1" i="0">
                <a:solidFill>
                  <a:srgbClr val="F2E9D6"/>
                </a:solidFill>
                <a:latin typeface="Songti SC"/>
                <a:ea typeface="Songti SC"/>
              </a:rPr>
              <a:t>操盘台</a:t>
            </a:r>
            <a:r>
              <a:rPr sz="900" b="0" i="0" spc="200">
                <a:solidFill>
                  <a:srgbClr val="9C8F7C"/>
                </a:solidFill>
                <a:latin typeface="Times New Roman"/>
                <a:ea typeface="Times New Roman"/>
              </a:rPr>
              <a:t>   VERTICAL AGENT STUDIO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024128"/>
            <a:ext cx="11064239" cy="0"/>
          </a:xfrm>
          <a:prstGeom prst="bentConnector3">
            <a:avLst/>
          </a:prstGeom>
          <a:ln w="9525">
            <a:solidFill>
              <a:srgbClr val="3A2C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118872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 i="0" spc="300">
                <a:solidFill>
                  <a:srgbClr val="C9A85F"/>
                </a:solidFill>
                <a:latin typeface="Times New Roman"/>
                <a:ea typeface="Times New Roman"/>
              </a:rPr>
              <a:t>FAQ · 常见问题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536192"/>
            <a:ext cx="106070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 i="0">
                <a:solidFill>
                  <a:srgbClr val="F2E9D6"/>
                </a:solidFill>
                <a:latin typeface="Songti SC"/>
                <a:ea typeface="Songti SC"/>
              </a:rPr>
              <a:t>装不上 / 掉线？先看这几条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2514600"/>
            <a:ext cx="365760" cy="365760"/>
          </a:xfrm>
          <a:prstGeom prst="ellipse">
            <a:avLst/>
          </a:prstGeom>
          <a:solidFill>
            <a:srgbClr val="C9A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 i="0">
                <a:solidFill>
                  <a:srgbClr val="18110E"/>
                </a:solidFill>
                <a:latin typeface="Times New Roman"/>
                <a:ea typeface="Times New Roman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468880"/>
            <a:ext cx="10332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F2E9D6"/>
                </a:solidFill>
                <a:latin typeface="Microsoft YaHei"/>
                <a:ea typeface="Microsoft YaHei"/>
              </a:rPr>
              <a:t>装完又消失/失效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C3B498"/>
                </a:solidFill>
                <a:latin typeface="Microsoft YaHei"/>
                <a:ea typeface="Microsoft YaHei"/>
              </a:rPr>
              <a:t>多半是解压文件夹被删或移动——放固定目录后重新加载。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3355848"/>
            <a:ext cx="365760" cy="365760"/>
          </a:xfrm>
          <a:prstGeom prst="ellipse">
            <a:avLst/>
          </a:prstGeom>
          <a:solidFill>
            <a:srgbClr val="C9A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 i="0">
                <a:solidFill>
                  <a:srgbClr val="18110E"/>
                </a:solidFill>
                <a:latin typeface="Times New Roman"/>
                <a:ea typeface="Times New Roman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310128"/>
            <a:ext cx="10332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F2E9D6"/>
                </a:solidFill>
                <a:latin typeface="Microsoft YaHei"/>
                <a:ea typeface="Microsoft YaHei"/>
              </a:rPr>
              <a:t>设备看板不显示本机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C3B498"/>
                </a:solidFill>
                <a:latin typeface="Microsoft YaHei"/>
                <a:ea typeface="Microsoft YaHei"/>
              </a:rPr>
              <a:t>确认已登录朱砂账号，且插件「本机作为执行设备」为开。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4197096"/>
            <a:ext cx="365760" cy="365760"/>
          </a:xfrm>
          <a:prstGeom prst="ellipse">
            <a:avLst/>
          </a:prstGeom>
          <a:solidFill>
            <a:srgbClr val="C9A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 i="0">
                <a:solidFill>
                  <a:srgbClr val="18110E"/>
                </a:solidFill>
                <a:latin typeface="Times New Roman"/>
                <a:ea typeface="Times New Roman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151376"/>
            <a:ext cx="10332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F2E9D6"/>
                </a:solidFill>
                <a:latin typeface="Microsoft YaHei"/>
                <a:ea typeface="Microsoft YaHei"/>
              </a:rPr>
              <a:t>跑一会儿停了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C3B498"/>
                </a:solidFill>
                <a:latin typeface="Microsoft YaHei"/>
                <a:ea typeface="Microsoft YaHei"/>
              </a:rPr>
              <a:t>遇验证码自动停，属正常保护；手动过验证后可再下发。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5038344"/>
            <a:ext cx="365760" cy="365760"/>
          </a:xfrm>
          <a:prstGeom prst="ellipse">
            <a:avLst/>
          </a:prstGeom>
          <a:solidFill>
            <a:srgbClr val="C9A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 i="0">
                <a:solidFill>
                  <a:srgbClr val="18110E"/>
                </a:solidFill>
                <a:latin typeface="Times New Roman"/>
                <a:ea typeface="Times New Roman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4992624"/>
            <a:ext cx="10332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F2E9D6"/>
                </a:solidFill>
                <a:latin typeface="Microsoft YaHei"/>
                <a:ea typeface="Microsoft YaHei"/>
              </a:rPr>
              <a:t>更新了没生效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C3B498"/>
                </a:solidFill>
                <a:latin typeface="Microsoft YaHei"/>
                <a:ea typeface="Microsoft YaHei"/>
              </a:rPr>
              <a:t>插件本地加载，仓库更新后需重新下载并在扩展页「重新加载」。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40080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C9A85F"/>
                </a:solidFill>
                <a:latin typeface="Times New Roman"/>
                <a:ea typeface="Times New Roman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1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 i="0" spc="500">
                <a:solidFill>
                  <a:srgbClr val="C9A85F"/>
                </a:solidFill>
                <a:latin typeface="Times New Roman"/>
                <a:ea typeface="Times New Roman"/>
              </a:rPr>
              <a:t>THANK 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743200"/>
            <a:ext cx="105156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000" b="1" i="0">
                <a:solidFill>
                  <a:srgbClr val="F2E9D6"/>
                </a:solidFill>
                <a:latin typeface="Songti SC"/>
                <a:ea typeface="Songti SC"/>
              </a:rPr>
              <a:t>装好了，就去获客吧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68680" y="3749039"/>
            <a:ext cx="2926080" cy="0"/>
          </a:xfrm>
          <a:prstGeom prst="bentConnector3">
            <a:avLst/>
          </a:prstGeom>
          <a:ln w="12700">
            <a:solidFill>
              <a:srgbClr val="C9A8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68680" y="3977639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 i="0">
                <a:solidFill>
                  <a:srgbClr val="C3B498"/>
                </a:solidFill>
                <a:latin typeface="Microsoft YaHei"/>
                <a:ea typeface="Microsoft YaHei"/>
              </a:rPr>
              <a:t>有任何问题，点右下角「小红书助手」或到「联系客服」页加客服微信。</a:t>
            </a:r>
          </a:p>
          <a:p>
            <a:r>
              <a:rPr sz="1300" b="0" i="0">
                <a:solidFill>
                  <a:srgbClr val="9C8F7C"/>
                </a:solidFill>
                <a:latin typeface="Microsoft YaHei"/>
                <a:ea typeface="Microsoft YaHei"/>
              </a:rPr>
              <a:t>操作文档 / 常见问题 / 平台规则，都在助手里。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0080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C9A85F"/>
                </a:solidFill>
                <a:latin typeface="Times New Roman"/>
                <a:ea typeface="Times New Roman"/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