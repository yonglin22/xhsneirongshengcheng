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22960" y="1051560"/>
            <a:ext cx="2926080" cy="0"/>
          </a:xfrm>
          <a:prstGeom prst="bentConnector3">
            <a:avLst/>
          </a:prstGeom>
          <a:ln w="12700">
            <a:solidFill>
              <a:srgbClr val="C9A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1430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 spc="400">
                <a:solidFill>
                  <a:srgbClr val="C9A85F"/>
                </a:solidFill>
                <a:latin typeface="Times New Roman"/>
                <a:ea typeface="Times New Roman"/>
              </a:rPr>
              <a:t>ZHU SHA  ·  PLUGIN  INSTALL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400" b="1" i="0">
                <a:solidFill>
                  <a:srgbClr val="F2E9D6"/>
                </a:solidFill>
                <a:latin typeface="Songti SC"/>
                <a:ea typeface="Songti SC"/>
              </a:rPr>
              <a:t>朱砂助手 插件</a:t>
            </a:r>
          </a:p>
          <a:p>
            <a:r>
              <a:rPr sz="5400" b="1" i="0">
                <a:solidFill>
                  <a:srgbClr val="C9A85F"/>
                </a:solidFill>
                <a:latin typeface="Songti SC"/>
                <a:ea typeface="Songti SC"/>
              </a:rPr>
              <a:t>安装教程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114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C3B498"/>
                </a:solidFill>
                <a:latin typeface="Songti SC"/>
                <a:ea typeface="Songti SC"/>
              </a:rPr>
              <a:t>养号 · 截流 · 数据回流一体化</a:t>
            </a:r>
            <a:r>
              <a:rPr sz="1600" b="0" i="0">
                <a:solidFill>
                  <a:srgbClr val="9C8F7C"/>
                </a:solidFill>
                <a:latin typeface="Songti SC"/>
                <a:ea typeface="Songti SC"/>
              </a:rPr>
              <a:t>   ｜   </a:t>
            </a:r>
            <a:r>
              <a:rPr sz="1600" b="0" i="0">
                <a:solidFill>
                  <a:srgbClr val="C3B498"/>
                </a:solidFill>
                <a:latin typeface="Songti SC"/>
                <a:ea typeface="Songti SC"/>
              </a:rPr>
              <a:t>住宅 IP 更安全 · 零门槛起步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4892040"/>
            <a:ext cx="3657600" cy="0"/>
          </a:xfrm>
          <a:prstGeom prst="bentConnector3">
            <a:avLst/>
          </a:prstGeom>
          <a:ln w="12700">
            <a:solidFill>
              <a:srgbClr val="C9A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5029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 spc="100">
                <a:solidFill>
                  <a:srgbClr val="9C8F7C"/>
                </a:solidFill>
                <a:latin typeface="Microsoft YaHei"/>
                <a:ea typeface="Microsoft YaHei"/>
              </a:rPr>
              <a:t>电脑版 Chrome / Edge  ·  3 分钟装好  ·  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5486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0" b="1" i="0">
                <a:solidFill>
                  <a:srgbClr val="3A2C1F"/>
                </a:solidFill>
                <a:latin typeface="Times New Roman"/>
                <a:ea typeface="Times New Roman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260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 spc="400">
                <a:solidFill>
                  <a:srgbClr val="C9A85F"/>
                </a:solidFill>
                <a:latin typeface="Times New Roman"/>
                <a:ea typeface="Times New Roman"/>
              </a:rPr>
              <a:t>WEI SHEN 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3832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2E9D6"/>
                </a:solidFill>
                <a:latin typeface="Songti SC"/>
                <a:ea typeface="Songti SC"/>
              </a:rPr>
              <a:t>为什么要装「朱砂助手」插件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4343400"/>
            <a:ext cx="2926080" cy="0"/>
          </a:xfrm>
          <a:prstGeom prst="bentConnector3">
            <a:avLst/>
          </a:prstGeom>
          <a:ln w="12700">
            <a:solidFill>
              <a:srgbClr val="C9A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8680" y="452628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C3B498"/>
                </a:solidFill>
                <a:latin typeface="Microsoft YaHei"/>
                <a:ea typeface="Microsoft YaHei"/>
              </a:rPr>
              <a:t>养号、评论区截流、发布后数据回流，都靠这个浏览器插件在你已登录的小红书里执行。
用你本机的住宅 IP，比机房扫码更安全、登录态更稳；每 75 分钟自动续期，不易掉线。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C9A85F"/>
                </a:solidFill>
                <a:latin typeface="Songti SC"/>
                <a:ea typeface="Songti SC"/>
              </a:rPr>
              <a:t>朱砂</a:t>
            </a:r>
            <a:r>
              <a:rPr sz="1300" b="0" i="0">
                <a:solidFill>
                  <a:srgbClr val="9C8F7C"/>
                </a:solidFill>
                <a:latin typeface="Songti SC"/>
                <a:ea typeface="Songti SC"/>
              </a:rPr>
              <a:t> · </a:t>
            </a:r>
            <a:r>
              <a:rPr sz="1300" b="1" i="0">
                <a:solidFill>
                  <a:srgbClr val="F2E9D6"/>
                </a:solidFill>
                <a:latin typeface="Songti SC"/>
                <a:ea typeface="Songti SC"/>
              </a:rPr>
              <a:t>操盘台</a:t>
            </a:r>
            <a:r>
              <a:rPr sz="900" b="0" i="0" spc="200">
                <a:solidFill>
                  <a:srgbClr val="9C8F7C"/>
                </a:solidFill>
                <a:latin typeface="Times New Roman"/>
                <a:ea typeface="Times New Roman"/>
              </a:rPr>
              <a:t>   VERTICAL AGENT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51560"/>
            <a:ext cx="11064239" cy="0"/>
          </a:xfrm>
          <a:prstGeom prst="bentConnector3">
            <a:avLst/>
          </a:prstGeom>
          <a:ln w="9525">
            <a:solidFill>
              <a:srgbClr val="3A2C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12344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 spc="300">
                <a:solidFill>
                  <a:srgbClr val="C9A85F"/>
                </a:solidFill>
                <a:latin typeface="Times New Roman"/>
                <a:ea typeface="Times New Roman"/>
              </a:rPr>
              <a:t>PREPARE · 准备工作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2E9D6"/>
                </a:solidFill>
                <a:latin typeface="Songti SC"/>
                <a:ea typeface="Songti SC"/>
              </a:rPr>
              <a:t>开始前，先备齐 3 样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697480"/>
            <a:ext cx="384048" cy="384048"/>
          </a:xfrm>
          <a:prstGeom prst="ellipse">
            <a:avLst/>
          </a:prstGeom>
          <a:solidFill>
            <a:srgbClr val="C9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 i="0">
                <a:solidFill>
                  <a:srgbClr val="18110E"/>
                </a:solidFill>
                <a:latin typeface="Times New Roman"/>
                <a:ea typeface="Times New Roma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42616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E9D6"/>
                </a:solidFill>
                <a:latin typeface="Microsoft YaHei"/>
                <a:ea typeface="Microsoft YaHei"/>
              </a:rPr>
              <a:t>一台电脑 + Chrome / Edge 浏览器</a:t>
            </a:r>
          </a:p>
          <a:p>
            <a:pPr>
              <a:lnSpc>
                <a:spcPct val="125000"/>
              </a:lnSpc>
            </a:pPr>
            <a:r>
              <a:rPr sz="1300" b="0" i="0">
                <a:solidFill>
                  <a:srgbClr val="C3B498"/>
                </a:solidFill>
                <a:latin typeface="Microsoft YaHei"/>
                <a:ea typeface="Microsoft YaHei"/>
              </a:rPr>
              <a:t>插件是电脑版浏览器扩展，手机不需要装。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566160"/>
            <a:ext cx="384048" cy="384048"/>
          </a:xfrm>
          <a:prstGeom prst="ellipse">
            <a:avLst/>
          </a:prstGeom>
          <a:solidFill>
            <a:srgbClr val="C9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 i="0">
                <a:solidFill>
                  <a:srgbClr val="18110E"/>
                </a:solidFill>
                <a:latin typeface="Times New Roman"/>
                <a:ea typeface="Times New Roman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511296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E9D6"/>
                </a:solidFill>
                <a:latin typeface="Microsoft YaHei"/>
                <a:ea typeface="Microsoft YaHei"/>
              </a:rPr>
              <a:t>登录你的朱砂操盘台账号</a:t>
            </a:r>
          </a:p>
          <a:p>
            <a:pPr>
              <a:lnSpc>
                <a:spcPct val="125000"/>
              </a:lnSpc>
            </a:pPr>
            <a:r>
              <a:rPr sz="1300" b="0" i="0">
                <a:solidFill>
                  <a:srgbClr val="C3B498"/>
                </a:solidFill>
                <a:latin typeface="Microsoft YaHei"/>
                <a:ea typeface="Microsoft YaHei"/>
              </a:rPr>
              <a:t>和插件用同一个浏览器，装好后插件会自动认这个登录态。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434840"/>
            <a:ext cx="384048" cy="384048"/>
          </a:xfrm>
          <a:prstGeom prst="ellipse">
            <a:avLst/>
          </a:prstGeom>
          <a:solidFill>
            <a:srgbClr val="C9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 i="0">
                <a:solidFill>
                  <a:srgbClr val="18110E"/>
                </a:solidFill>
                <a:latin typeface="Times New Roman"/>
                <a:ea typeface="Times New Roman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379976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E9D6"/>
                </a:solidFill>
                <a:latin typeface="Microsoft YaHei"/>
                <a:ea typeface="Microsoft YaHei"/>
              </a:rPr>
              <a:t>登录你要养号 / 截流的小红书账号</a:t>
            </a:r>
          </a:p>
          <a:p>
            <a:pPr>
              <a:lnSpc>
                <a:spcPct val="125000"/>
              </a:lnSpc>
            </a:pPr>
            <a:r>
              <a:rPr sz="1300" b="0" i="0">
                <a:solidFill>
                  <a:srgbClr val="C3B498"/>
                </a:solidFill>
                <a:latin typeface="Microsoft YaHei"/>
                <a:ea typeface="Microsoft YaHei"/>
              </a:rPr>
              <a:t>在同一浏览器打开 xiaohongshu.com 并登录，脚本就在这个登录态里跑。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C9A85F"/>
                </a:solidFill>
                <a:latin typeface="Songti SC"/>
                <a:ea typeface="Songti SC"/>
              </a:rPr>
              <a:t>朱砂</a:t>
            </a:r>
            <a:r>
              <a:rPr sz="1300" b="0" i="0">
                <a:solidFill>
                  <a:srgbClr val="9C8F7C"/>
                </a:solidFill>
                <a:latin typeface="Songti SC"/>
                <a:ea typeface="Songti SC"/>
              </a:rPr>
              <a:t> · </a:t>
            </a:r>
            <a:r>
              <a:rPr sz="1300" b="1" i="0">
                <a:solidFill>
                  <a:srgbClr val="F2E9D6"/>
                </a:solidFill>
                <a:latin typeface="Songti SC"/>
                <a:ea typeface="Songti SC"/>
              </a:rPr>
              <a:t>操盘台</a:t>
            </a:r>
            <a:r>
              <a:rPr sz="900" b="0" i="0" spc="200">
                <a:solidFill>
                  <a:srgbClr val="9C8F7C"/>
                </a:solidFill>
                <a:latin typeface="Times New Roman"/>
                <a:ea typeface="Times New Roman"/>
              </a:rPr>
              <a:t>   VERTICAL AGENT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51560"/>
            <a:ext cx="11064239" cy="0"/>
          </a:xfrm>
          <a:prstGeom prst="bentConnector3">
            <a:avLst/>
          </a:prstGeom>
          <a:ln w="9525">
            <a:solidFill>
              <a:srgbClr val="3A2C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12344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 spc="300">
                <a:solidFill>
                  <a:srgbClr val="C9A85F"/>
                </a:solidFill>
                <a:latin typeface="Times New Roman"/>
                <a:ea typeface="Times New Roman"/>
              </a:rPr>
              <a:t>STEP 01 · 下载插件包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2E9D6"/>
                </a:solidFill>
                <a:latin typeface="Songti SC"/>
                <a:ea typeface="Songti SC"/>
              </a:rPr>
              <a:t>第一步：下载「朱砂助手」压缩包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697480"/>
            <a:ext cx="384048" cy="384048"/>
          </a:xfrm>
          <a:prstGeom prst="ellipse">
            <a:avLst/>
          </a:prstGeom>
          <a:solidFill>
            <a:srgbClr val="C9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 i="0">
                <a:solidFill>
                  <a:srgbClr val="18110E"/>
                </a:solidFill>
                <a:latin typeface="Times New Roman"/>
                <a:ea typeface="Times New Roma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42616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E9D6"/>
                </a:solidFill>
                <a:latin typeface="Microsoft YaHei"/>
                <a:ea typeface="Microsoft YaHei"/>
              </a:rPr>
              <a:t>进入「联系客服」页 或「设备看板」</a:t>
            </a:r>
          </a:p>
          <a:p>
            <a:pPr>
              <a:lnSpc>
                <a:spcPct val="125000"/>
              </a:lnSpc>
            </a:pPr>
            <a:r>
              <a:rPr sz="1300" b="0" i="0">
                <a:solidFill>
                  <a:srgbClr val="C3B498"/>
                </a:solidFill>
                <a:latin typeface="Microsoft YaHei"/>
                <a:ea typeface="Microsoft YaHei"/>
              </a:rPr>
              <a:t>点页面上的「⬇ 下载插件」按钮。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566160"/>
            <a:ext cx="384048" cy="384048"/>
          </a:xfrm>
          <a:prstGeom prst="ellipse">
            <a:avLst/>
          </a:prstGeom>
          <a:solidFill>
            <a:srgbClr val="C9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 i="0">
                <a:solidFill>
                  <a:srgbClr val="18110E"/>
                </a:solidFill>
                <a:latin typeface="Times New Roman"/>
                <a:ea typeface="Times New Roman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511296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E9D6"/>
                </a:solidFill>
                <a:latin typeface="Microsoft YaHei"/>
                <a:ea typeface="Microsoft YaHei"/>
              </a:rPr>
              <a:t>下载得到 zhusha-helper-extension.zip</a:t>
            </a:r>
          </a:p>
          <a:p>
            <a:pPr>
              <a:lnSpc>
                <a:spcPct val="125000"/>
              </a:lnSpc>
            </a:pPr>
            <a:r>
              <a:rPr sz="1300" b="0" i="0">
                <a:solidFill>
                  <a:srgbClr val="C3B498"/>
                </a:solidFill>
                <a:latin typeface="Microsoft YaHei"/>
                <a:ea typeface="Microsoft YaHei"/>
              </a:rPr>
              <a:t>这是插件本体，需要解压后才能装。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434840"/>
            <a:ext cx="384048" cy="384048"/>
          </a:xfrm>
          <a:prstGeom prst="ellipse">
            <a:avLst/>
          </a:prstGeom>
          <a:solidFill>
            <a:srgbClr val="C9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 i="0">
                <a:solidFill>
                  <a:srgbClr val="18110E"/>
                </a:solidFill>
                <a:latin typeface="Times New Roman"/>
                <a:ea typeface="Times New Roman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379976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E9D6"/>
                </a:solidFill>
                <a:latin typeface="Microsoft YaHei"/>
                <a:ea typeface="Microsoft YaHei"/>
              </a:rPr>
              <a:t>解压到一个固定文件夹</a:t>
            </a:r>
          </a:p>
          <a:p>
            <a:pPr>
              <a:lnSpc>
                <a:spcPct val="125000"/>
              </a:lnSpc>
            </a:pPr>
            <a:r>
              <a:rPr sz="1300" b="0" i="0">
                <a:solidFill>
                  <a:srgbClr val="C3B498"/>
                </a:solidFill>
                <a:latin typeface="Microsoft YaHei"/>
                <a:ea typeface="Microsoft YaHei"/>
              </a:rPr>
              <a:t>别放桌面/下载等临时目录——文件夹删了插件会失效。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806440"/>
            <a:ext cx="11064240" cy="566928"/>
          </a:xfrm>
          <a:prstGeom prst="rect">
            <a:avLst/>
          </a:prstGeom>
          <a:solidFill>
            <a:srgbClr val="241B16"/>
          </a:solidFill>
          <a:ln w="12700">
            <a:solidFill>
              <a:srgbClr val="C9A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907024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C9A85F"/>
                </a:solidFill>
                <a:latin typeface="Microsoft YaHei"/>
                <a:ea typeface="Microsoft YaHei"/>
              </a:rPr>
              <a:t>⚠ </a:t>
            </a:r>
            <a:r>
              <a:rPr sz="1250" b="0" i="0">
                <a:solidFill>
                  <a:srgbClr val="F2E9D6"/>
                </a:solidFill>
                <a:latin typeface="Microsoft YaHei"/>
                <a:ea typeface="Microsoft YaHei"/>
              </a:rPr>
              <a:t>固定文件夹示例：D:\朱砂助手\ 或 文稿/朱砂助手/。解压后里面应有 manifest.json。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C9A85F"/>
                </a:solidFill>
                <a:latin typeface="Songti SC"/>
                <a:ea typeface="Songti SC"/>
              </a:rPr>
              <a:t>朱砂</a:t>
            </a:r>
            <a:r>
              <a:rPr sz="1300" b="0" i="0">
                <a:solidFill>
                  <a:srgbClr val="9C8F7C"/>
                </a:solidFill>
                <a:latin typeface="Songti SC"/>
                <a:ea typeface="Songti SC"/>
              </a:rPr>
              <a:t> · </a:t>
            </a:r>
            <a:r>
              <a:rPr sz="1300" b="1" i="0">
                <a:solidFill>
                  <a:srgbClr val="F2E9D6"/>
                </a:solidFill>
                <a:latin typeface="Songti SC"/>
                <a:ea typeface="Songti SC"/>
              </a:rPr>
              <a:t>操盘台</a:t>
            </a:r>
            <a:r>
              <a:rPr sz="900" b="0" i="0" spc="200">
                <a:solidFill>
                  <a:srgbClr val="9C8F7C"/>
                </a:solidFill>
                <a:latin typeface="Times New Roman"/>
                <a:ea typeface="Times New Roman"/>
              </a:rPr>
              <a:t>   VERTICAL AGENT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51560"/>
            <a:ext cx="11064239" cy="0"/>
          </a:xfrm>
          <a:prstGeom prst="bentConnector3">
            <a:avLst/>
          </a:prstGeom>
          <a:ln w="9525">
            <a:solidFill>
              <a:srgbClr val="3A2C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12344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 spc="300">
                <a:solidFill>
                  <a:srgbClr val="C9A85F"/>
                </a:solidFill>
                <a:latin typeface="Times New Roman"/>
                <a:ea typeface="Times New Roman"/>
              </a:rPr>
              <a:t>STEP 02 · 打开扩展管理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2E9D6"/>
                </a:solidFill>
                <a:latin typeface="Songti SC"/>
                <a:ea typeface="Songti SC"/>
              </a:rPr>
              <a:t>第二步：打开浏览器扩展管理页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697480"/>
            <a:ext cx="384048" cy="384048"/>
          </a:xfrm>
          <a:prstGeom prst="ellipse">
            <a:avLst/>
          </a:prstGeom>
          <a:solidFill>
            <a:srgbClr val="C9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 i="0">
                <a:solidFill>
                  <a:srgbClr val="18110E"/>
                </a:solidFill>
                <a:latin typeface="Times New Roman"/>
                <a:ea typeface="Times New Roma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42616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E9D6"/>
                </a:solidFill>
                <a:latin typeface="Microsoft YaHei"/>
                <a:ea typeface="Microsoft YaHei"/>
              </a:rPr>
              <a:t>地址栏输入 chrome://extensions</a:t>
            </a:r>
          </a:p>
          <a:p>
            <a:pPr>
              <a:lnSpc>
                <a:spcPct val="125000"/>
              </a:lnSpc>
            </a:pPr>
            <a:r>
              <a:rPr sz="1300" b="0" i="0">
                <a:solidFill>
                  <a:srgbClr val="C3B498"/>
                </a:solidFill>
                <a:latin typeface="Microsoft YaHei"/>
                <a:ea typeface="Microsoft YaHei"/>
              </a:rPr>
              <a:t>Edge 浏览器输入 edge://extensions，回车。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566160"/>
            <a:ext cx="384048" cy="384048"/>
          </a:xfrm>
          <a:prstGeom prst="ellipse">
            <a:avLst/>
          </a:prstGeom>
          <a:solidFill>
            <a:srgbClr val="C9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 i="0">
                <a:solidFill>
                  <a:srgbClr val="18110E"/>
                </a:solidFill>
                <a:latin typeface="Times New Roman"/>
                <a:ea typeface="Times New Roman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511296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E9D6"/>
                </a:solidFill>
                <a:latin typeface="Microsoft YaHei"/>
                <a:ea typeface="Microsoft YaHei"/>
              </a:rPr>
              <a:t>也可从菜单进入</a:t>
            </a:r>
          </a:p>
          <a:p>
            <a:pPr>
              <a:lnSpc>
                <a:spcPct val="125000"/>
              </a:lnSpc>
            </a:pPr>
            <a:r>
              <a:rPr sz="1300" b="0" i="0">
                <a:solidFill>
                  <a:srgbClr val="C3B498"/>
                </a:solidFill>
                <a:latin typeface="Microsoft YaHei"/>
                <a:ea typeface="Microsoft YaHei"/>
              </a:rPr>
              <a:t>浏览器右上角 ⋮ →「扩展」→「管理扩展程序」。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C9A85F"/>
                </a:solidFill>
                <a:latin typeface="Songti SC"/>
                <a:ea typeface="Songti SC"/>
              </a:rPr>
              <a:t>朱砂</a:t>
            </a:r>
            <a:r>
              <a:rPr sz="1300" b="0" i="0">
                <a:solidFill>
                  <a:srgbClr val="9C8F7C"/>
                </a:solidFill>
                <a:latin typeface="Songti SC"/>
                <a:ea typeface="Songti SC"/>
              </a:rPr>
              <a:t> · </a:t>
            </a:r>
            <a:r>
              <a:rPr sz="1300" b="1" i="0">
                <a:solidFill>
                  <a:srgbClr val="F2E9D6"/>
                </a:solidFill>
                <a:latin typeface="Songti SC"/>
                <a:ea typeface="Songti SC"/>
              </a:rPr>
              <a:t>操盘台</a:t>
            </a:r>
            <a:r>
              <a:rPr sz="900" b="0" i="0" spc="200">
                <a:solidFill>
                  <a:srgbClr val="9C8F7C"/>
                </a:solidFill>
                <a:latin typeface="Times New Roman"/>
                <a:ea typeface="Times New Roman"/>
              </a:rPr>
              <a:t>   VERTICAL AGENT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51560"/>
            <a:ext cx="11064239" cy="0"/>
          </a:xfrm>
          <a:prstGeom prst="bentConnector3">
            <a:avLst/>
          </a:prstGeom>
          <a:ln w="9525">
            <a:solidFill>
              <a:srgbClr val="3A2C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12344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 spc="300">
                <a:solidFill>
                  <a:srgbClr val="C9A85F"/>
                </a:solidFill>
                <a:latin typeface="Times New Roman"/>
                <a:ea typeface="Times New Roman"/>
              </a:rPr>
              <a:t>STEP 03 · 开发者模式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2E9D6"/>
                </a:solidFill>
                <a:latin typeface="Songti SC"/>
                <a:ea typeface="Songti SC"/>
              </a:rPr>
              <a:t>第三步：打开右上角「开发者模式」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697480"/>
            <a:ext cx="384048" cy="384048"/>
          </a:xfrm>
          <a:prstGeom prst="ellipse">
            <a:avLst/>
          </a:prstGeom>
          <a:solidFill>
            <a:srgbClr val="C9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 i="0">
                <a:solidFill>
                  <a:srgbClr val="18110E"/>
                </a:solidFill>
                <a:latin typeface="Times New Roman"/>
                <a:ea typeface="Times New Roma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42616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E9D6"/>
                </a:solidFill>
                <a:latin typeface="Microsoft YaHei"/>
                <a:ea typeface="Microsoft YaHei"/>
              </a:rPr>
              <a:t>找到右上角「开发者模式」开关</a:t>
            </a:r>
          </a:p>
          <a:p>
            <a:pPr>
              <a:lnSpc>
                <a:spcPct val="125000"/>
              </a:lnSpc>
            </a:pPr>
            <a:r>
              <a:rPr sz="1300" b="0" i="0">
                <a:solidFill>
                  <a:srgbClr val="C3B498"/>
                </a:solidFill>
                <a:latin typeface="Microsoft YaHei"/>
                <a:ea typeface="Microsoft YaHei"/>
              </a:rPr>
              <a:t>把它打开（变蓝）。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566160"/>
            <a:ext cx="384048" cy="384048"/>
          </a:xfrm>
          <a:prstGeom prst="ellipse">
            <a:avLst/>
          </a:prstGeom>
          <a:solidFill>
            <a:srgbClr val="C9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 i="0">
                <a:solidFill>
                  <a:srgbClr val="18110E"/>
                </a:solidFill>
                <a:latin typeface="Times New Roman"/>
                <a:ea typeface="Times New Roman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511296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E9D6"/>
                </a:solidFill>
                <a:latin typeface="Microsoft YaHei"/>
                <a:ea typeface="Microsoft YaHei"/>
              </a:rPr>
              <a:t>页面会多出三个按钮</a:t>
            </a:r>
          </a:p>
          <a:p>
            <a:pPr>
              <a:lnSpc>
                <a:spcPct val="125000"/>
              </a:lnSpc>
            </a:pPr>
            <a:r>
              <a:rPr sz="1300" b="0" i="0">
                <a:solidFill>
                  <a:srgbClr val="C3B498"/>
                </a:solidFill>
                <a:latin typeface="Microsoft YaHei"/>
                <a:ea typeface="Microsoft YaHei"/>
              </a:rPr>
              <a:t>出现「加载已解压的扩展程序」等按钮，说明已开启。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C9A85F"/>
                </a:solidFill>
                <a:latin typeface="Songti SC"/>
                <a:ea typeface="Songti SC"/>
              </a:rPr>
              <a:t>朱砂</a:t>
            </a:r>
            <a:r>
              <a:rPr sz="1300" b="0" i="0">
                <a:solidFill>
                  <a:srgbClr val="9C8F7C"/>
                </a:solidFill>
                <a:latin typeface="Songti SC"/>
                <a:ea typeface="Songti SC"/>
              </a:rPr>
              <a:t> · </a:t>
            </a:r>
            <a:r>
              <a:rPr sz="1300" b="1" i="0">
                <a:solidFill>
                  <a:srgbClr val="F2E9D6"/>
                </a:solidFill>
                <a:latin typeface="Songti SC"/>
                <a:ea typeface="Songti SC"/>
              </a:rPr>
              <a:t>操盘台</a:t>
            </a:r>
            <a:r>
              <a:rPr sz="900" b="0" i="0" spc="200">
                <a:solidFill>
                  <a:srgbClr val="9C8F7C"/>
                </a:solidFill>
                <a:latin typeface="Times New Roman"/>
                <a:ea typeface="Times New Roman"/>
              </a:rPr>
              <a:t>   VERTICAL AGENT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51560"/>
            <a:ext cx="11064239" cy="0"/>
          </a:xfrm>
          <a:prstGeom prst="bentConnector3">
            <a:avLst/>
          </a:prstGeom>
          <a:ln w="9525">
            <a:solidFill>
              <a:srgbClr val="3A2C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12344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 spc="300">
                <a:solidFill>
                  <a:srgbClr val="C9A85F"/>
                </a:solidFill>
                <a:latin typeface="Times New Roman"/>
                <a:ea typeface="Times New Roman"/>
              </a:rPr>
              <a:t>STEP 04 · 加载插件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2E9D6"/>
                </a:solidFill>
                <a:latin typeface="Songti SC"/>
                <a:ea typeface="Songti SC"/>
              </a:rPr>
              <a:t>第四步：加载已解压的扩展程序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697480"/>
            <a:ext cx="384048" cy="384048"/>
          </a:xfrm>
          <a:prstGeom prst="ellipse">
            <a:avLst/>
          </a:prstGeom>
          <a:solidFill>
            <a:srgbClr val="C9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 i="0">
                <a:solidFill>
                  <a:srgbClr val="18110E"/>
                </a:solidFill>
                <a:latin typeface="Times New Roman"/>
                <a:ea typeface="Times New Roma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42616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E9D6"/>
                </a:solidFill>
                <a:latin typeface="Microsoft YaHei"/>
                <a:ea typeface="Microsoft YaHei"/>
              </a:rPr>
              <a:t>点「加载已解压的扩展程序」</a:t>
            </a:r>
          </a:p>
          <a:p>
            <a:pPr>
              <a:lnSpc>
                <a:spcPct val="125000"/>
              </a:lnSpc>
            </a:pPr>
            <a:r>
              <a:rPr sz="1300" b="0" i="0">
                <a:solidFill>
                  <a:srgbClr val="C3B498"/>
                </a:solidFill>
                <a:latin typeface="Microsoft YaHei"/>
                <a:ea typeface="Microsoft YaHei"/>
              </a:rPr>
              <a:t>Load unpacked。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566160"/>
            <a:ext cx="384048" cy="384048"/>
          </a:xfrm>
          <a:prstGeom prst="ellipse">
            <a:avLst/>
          </a:prstGeom>
          <a:solidFill>
            <a:srgbClr val="C9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 i="0">
                <a:solidFill>
                  <a:srgbClr val="18110E"/>
                </a:solidFill>
                <a:latin typeface="Times New Roman"/>
                <a:ea typeface="Times New Roman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511296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E9D6"/>
                </a:solidFill>
                <a:latin typeface="Microsoft YaHei"/>
                <a:ea typeface="Microsoft YaHei"/>
              </a:rPr>
              <a:t>选中第 1 步解压出来的文件夹</a:t>
            </a:r>
          </a:p>
          <a:p>
            <a:pPr>
              <a:lnSpc>
                <a:spcPct val="125000"/>
              </a:lnSpc>
            </a:pPr>
            <a:r>
              <a:rPr sz="1300" b="0" i="0">
                <a:solidFill>
                  <a:srgbClr val="C3B498"/>
                </a:solidFill>
                <a:latin typeface="Microsoft YaHei"/>
                <a:ea typeface="Microsoft YaHei"/>
              </a:rPr>
              <a:t>注意是选文件夹本身，不是里面的文件。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434840"/>
            <a:ext cx="384048" cy="384048"/>
          </a:xfrm>
          <a:prstGeom prst="ellipse">
            <a:avLst/>
          </a:prstGeom>
          <a:solidFill>
            <a:srgbClr val="C9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 i="0">
                <a:solidFill>
                  <a:srgbClr val="18110E"/>
                </a:solidFill>
                <a:latin typeface="Times New Roman"/>
                <a:ea typeface="Times New Roman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379976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E9D6"/>
                </a:solidFill>
                <a:latin typeface="Microsoft YaHei"/>
                <a:ea typeface="Microsoft YaHei"/>
              </a:rPr>
              <a:t>列表出现「朱砂助手」即安装成功</a:t>
            </a:r>
          </a:p>
          <a:p>
            <a:pPr>
              <a:lnSpc>
                <a:spcPct val="125000"/>
              </a:lnSpc>
            </a:pPr>
            <a:r>
              <a:rPr sz="1300" b="0" i="0">
                <a:solidFill>
                  <a:srgbClr val="C3B498"/>
                </a:solidFill>
                <a:latin typeface="Microsoft YaHei"/>
                <a:ea typeface="Microsoft YaHei"/>
              </a:rPr>
              <a:t>能看到图标与版本号。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806440"/>
            <a:ext cx="11064240" cy="566928"/>
          </a:xfrm>
          <a:prstGeom prst="rect">
            <a:avLst/>
          </a:prstGeom>
          <a:solidFill>
            <a:srgbClr val="241B16"/>
          </a:solidFill>
          <a:ln w="12700">
            <a:solidFill>
              <a:srgbClr val="C9A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907024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C9A85F"/>
                </a:solidFill>
                <a:latin typeface="Microsoft YaHei"/>
                <a:ea typeface="Microsoft YaHei"/>
              </a:rPr>
              <a:t>⚠ </a:t>
            </a:r>
            <a:r>
              <a:rPr sz="1250" b="0" i="0">
                <a:solidFill>
                  <a:srgbClr val="F2E9D6"/>
                </a:solidFill>
                <a:latin typeface="Microsoft YaHei"/>
                <a:ea typeface="Microsoft YaHei"/>
              </a:rPr>
              <a:t>报错「缺少 manifest」通常是选错层级——请选到含 manifest.json 的那层文件夹。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C9A85F"/>
                </a:solidFill>
                <a:latin typeface="Songti SC"/>
                <a:ea typeface="Songti SC"/>
              </a:rPr>
              <a:t>朱砂</a:t>
            </a:r>
            <a:r>
              <a:rPr sz="1300" b="0" i="0">
                <a:solidFill>
                  <a:srgbClr val="9C8F7C"/>
                </a:solidFill>
                <a:latin typeface="Songti SC"/>
                <a:ea typeface="Songti SC"/>
              </a:rPr>
              <a:t> · </a:t>
            </a:r>
            <a:r>
              <a:rPr sz="1300" b="1" i="0">
                <a:solidFill>
                  <a:srgbClr val="F2E9D6"/>
                </a:solidFill>
                <a:latin typeface="Songti SC"/>
                <a:ea typeface="Songti SC"/>
              </a:rPr>
              <a:t>操盘台</a:t>
            </a:r>
            <a:r>
              <a:rPr sz="900" b="0" i="0" spc="200">
                <a:solidFill>
                  <a:srgbClr val="9C8F7C"/>
                </a:solidFill>
                <a:latin typeface="Times New Roman"/>
                <a:ea typeface="Times New Roman"/>
              </a:rPr>
              <a:t>   VERTICAL AGENT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51560"/>
            <a:ext cx="11064239" cy="0"/>
          </a:xfrm>
          <a:prstGeom prst="bentConnector3">
            <a:avLst/>
          </a:prstGeom>
          <a:ln w="9525">
            <a:solidFill>
              <a:srgbClr val="3A2C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12344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 spc="300">
                <a:solidFill>
                  <a:srgbClr val="C9A85F"/>
                </a:solidFill>
                <a:latin typeface="Times New Roman"/>
                <a:ea typeface="Times New Roman"/>
              </a:rPr>
              <a:t>STEP 05 · 固定 + 登录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2E9D6"/>
                </a:solidFill>
                <a:latin typeface="Songti SC"/>
                <a:ea typeface="Songti SC"/>
              </a:rPr>
              <a:t>第五步：固定图标并保持登录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697480"/>
            <a:ext cx="384048" cy="384048"/>
          </a:xfrm>
          <a:prstGeom prst="ellipse">
            <a:avLst/>
          </a:prstGeom>
          <a:solidFill>
            <a:srgbClr val="C9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 i="0">
                <a:solidFill>
                  <a:srgbClr val="18110E"/>
                </a:solidFill>
                <a:latin typeface="Times New Roman"/>
                <a:ea typeface="Times New Roma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42616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E9D6"/>
                </a:solidFill>
                <a:latin typeface="Microsoft YaHei"/>
                <a:ea typeface="Microsoft YaHei"/>
              </a:rPr>
              <a:t>点浏览器扩展栏拼图图标 🧩</a:t>
            </a:r>
          </a:p>
          <a:p>
            <a:pPr>
              <a:lnSpc>
                <a:spcPct val="125000"/>
              </a:lnSpc>
            </a:pPr>
            <a:r>
              <a:rPr sz="1300" b="0" i="0">
                <a:solidFill>
                  <a:srgbClr val="C3B498"/>
                </a:solidFill>
                <a:latin typeface="Microsoft YaHei"/>
                <a:ea typeface="Microsoft YaHei"/>
              </a:rPr>
              <a:t>把「朱砂助手」点为固定，图标常驻工具栏。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566160"/>
            <a:ext cx="384048" cy="384048"/>
          </a:xfrm>
          <a:prstGeom prst="ellipse">
            <a:avLst/>
          </a:prstGeom>
          <a:solidFill>
            <a:srgbClr val="C9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 i="0">
                <a:solidFill>
                  <a:srgbClr val="18110E"/>
                </a:solidFill>
                <a:latin typeface="Times New Roman"/>
                <a:ea typeface="Times New Roman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511296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E9D6"/>
                </a:solidFill>
                <a:latin typeface="Microsoft YaHei"/>
                <a:ea typeface="Microsoft YaHei"/>
              </a:rPr>
              <a:t>确认已登录朱砂操盘台</a:t>
            </a:r>
          </a:p>
          <a:p>
            <a:pPr>
              <a:lnSpc>
                <a:spcPct val="125000"/>
              </a:lnSpc>
            </a:pPr>
            <a:r>
              <a:rPr sz="1300" b="0" i="0">
                <a:solidFill>
                  <a:srgbClr val="C3B498"/>
                </a:solidFill>
                <a:latin typeface="Microsoft YaHei"/>
                <a:ea typeface="Microsoft YaHei"/>
              </a:rPr>
              <a:t>插件会自动读取当前登录态，无需重复输入。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C9A85F"/>
                </a:solidFill>
                <a:latin typeface="Songti SC"/>
                <a:ea typeface="Songti SC"/>
              </a:rPr>
              <a:t>朱砂</a:t>
            </a:r>
            <a:r>
              <a:rPr sz="1300" b="0" i="0">
                <a:solidFill>
                  <a:srgbClr val="9C8F7C"/>
                </a:solidFill>
                <a:latin typeface="Songti SC"/>
                <a:ea typeface="Songti SC"/>
              </a:rPr>
              <a:t> · </a:t>
            </a:r>
            <a:r>
              <a:rPr sz="1300" b="1" i="0">
                <a:solidFill>
                  <a:srgbClr val="F2E9D6"/>
                </a:solidFill>
                <a:latin typeface="Songti SC"/>
                <a:ea typeface="Songti SC"/>
              </a:rPr>
              <a:t>操盘台</a:t>
            </a:r>
            <a:r>
              <a:rPr sz="900" b="0" i="0" spc="200">
                <a:solidFill>
                  <a:srgbClr val="9C8F7C"/>
                </a:solidFill>
                <a:latin typeface="Times New Roman"/>
                <a:ea typeface="Times New Roman"/>
              </a:rPr>
              <a:t>   VERTICAL AGENT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51560"/>
            <a:ext cx="11064239" cy="0"/>
          </a:xfrm>
          <a:prstGeom prst="bentConnector3">
            <a:avLst/>
          </a:prstGeom>
          <a:ln w="9525">
            <a:solidFill>
              <a:srgbClr val="3A2C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12344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 spc="300">
                <a:solidFill>
                  <a:srgbClr val="C9A85F"/>
                </a:solidFill>
                <a:latin typeface="Times New Roman"/>
                <a:ea typeface="Times New Roman"/>
              </a:rPr>
              <a:t>STEP 06 · 设为执行设备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2E9D6"/>
                </a:solidFill>
                <a:latin typeface="Songti SC"/>
                <a:ea typeface="Songti SC"/>
              </a:rPr>
              <a:t>第六步：把本机设为执行设备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697480"/>
            <a:ext cx="384048" cy="384048"/>
          </a:xfrm>
          <a:prstGeom prst="ellipse">
            <a:avLst/>
          </a:prstGeom>
          <a:solidFill>
            <a:srgbClr val="C9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 i="0">
                <a:solidFill>
                  <a:srgbClr val="18110E"/>
                </a:solidFill>
                <a:latin typeface="Times New Roman"/>
                <a:ea typeface="Times New Roma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42616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E9D6"/>
                </a:solidFill>
                <a:latin typeface="Microsoft YaHei"/>
                <a:ea typeface="Microsoft YaHei"/>
              </a:rPr>
              <a:t>点工具栏「朱砂助手」图标</a:t>
            </a:r>
          </a:p>
          <a:p>
            <a:pPr>
              <a:lnSpc>
                <a:spcPct val="125000"/>
              </a:lnSpc>
            </a:pPr>
            <a:r>
              <a:rPr sz="1300" b="0" i="0">
                <a:solidFill>
                  <a:srgbClr val="C3B498"/>
                </a:solidFill>
                <a:latin typeface="Microsoft YaHei"/>
                <a:ea typeface="Microsoft YaHei"/>
              </a:rPr>
              <a:t>打开插件弹窗。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566160"/>
            <a:ext cx="384048" cy="384048"/>
          </a:xfrm>
          <a:prstGeom prst="ellipse">
            <a:avLst/>
          </a:prstGeom>
          <a:solidFill>
            <a:srgbClr val="C9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 i="0">
                <a:solidFill>
                  <a:srgbClr val="18110E"/>
                </a:solidFill>
                <a:latin typeface="Times New Roman"/>
                <a:ea typeface="Times New Roman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511296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E9D6"/>
                </a:solidFill>
                <a:latin typeface="Microsoft YaHei"/>
                <a:ea typeface="Microsoft YaHei"/>
              </a:rPr>
              <a:t>打开「本机作为执行设备」开关</a:t>
            </a:r>
          </a:p>
          <a:p>
            <a:pPr>
              <a:lnSpc>
                <a:spcPct val="125000"/>
              </a:lnSpc>
            </a:pPr>
            <a:r>
              <a:rPr sz="1300" b="0" i="0">
                <a:solidFill>
                  <a:srgbClr val="C3B498"/>
                </a:solidFill>
                <a:latin typeface="Microsoft YaHei"/>
                <a:ea typeface="Microsoft YaHei"/>
              </a:rPr>
              <a:t>本机就会出现在「设备看板」里，状态=休息中。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434840"/>
            <a:ext cx="384048" cy="384048"/>
          </a:xfrm>
          <a:prstGeom prst="ellipse">
            <a:avLst/>
          </a:prstGeom>
          <a:solidFill>
            <a:srgbClr val="C9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 i="0">
                <a:solidFill>
                  <a:srgbClr val="18110E"/>
                </a:solidFill>
                <a:latin typeface="Times New Roman"/>
                <a:ea typeface="Times New Roman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379976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E9D6"/>
                </a:solidFill>
                <a:latin typeface="Microsoft YaHei"/>
                <a:ea typeface="Microsoft YaHei"/>
              </a:rPr>
              <a:t>打开「前台观看模式」</a:t>
            </a:r>
          </a:p>
          <a:p>
            <a:pPr>
              <a:lnSpc>
                <a:spcPct val="125000"/>
              </a:lnSpc>
            </a:pPr>
            <a:r>
              <a:rPr sz="1300" b="0" i="0">
                <a:solidFill>
                  <a:srgbClr val="C3B498"/>
                </a:solidFill>
                <a:latin typeface="Microsoft YaHei"/>
                <a:ea typeface="Microsoft YaHei"/>
              </a:rPr>
              <a:t>可在前台看到自动操作过程，更放心（可选）。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C9A85F"/>
                </a:solidFill>
                <a:latin typeface="Songti SC"/>
                <a:ea typeface="Songti SC"/>
              </a:rPr>
              <a:t>朱砂</a:t>
            </a:r>
            <a:r>
              <a:rPr sz="1300" b="0" i="0">
                <a:solidFill>
                  <a:srgbClr val="9C8F7C"/>
                </a:solidFill>
                <a:latin typeface="Songti SC"/>
                <a:ea typeface="Songti SC"/>
              </a:rPr>
              <a:t> · </a:t>
            </a:r>
            <a:r>
              <a:rPr sz="1300" b="1" i="0">
                <a:solidFill>
                  <a:srgbClr val="F2E9D6"/>
                </a:solidFill>
                <a:latin typeface="Songti SC"/>
                <a:ea typeface="Songti SC"/>
              </a:rPr>
              <a:t>操盘台</a:t>
            </a:r>
            <a:r>
              <a:rPr sz="900" b="0" i="0" spc="200">
                <a:solidFill>
                  <a:srgbClr val="9C8F7C"/>
                </a:solidFill>
                <a:latin typeface="Times New Roman"/>
                <a:ea typeface="Times New Roman"/>
              </a:rPr>
              <a:t>   VERTICAL AGENT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51560"/>
            <a:ext cx="11064239" cy="0"/>
          </a:xfrm>
          <a:prstGeom prst="bentConnector3">
            <a:avLst/>
          </a:prstGeom>
          <a:ln w="9525">
            <a:solidFill>
              <a:srgbClr val="3A2C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12344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 spc="300">
                <a:solidFill>
                  <a:srgbClr val="C9A85F"/>
                </a:solidFill>
                <a:latin typeface="Times New Roman"/>
                <a:ea typeface="Times New Roman"/>
              </a:rPr>
              <a:t>STEP 07 · 下发任务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2E9D6"/>
                </a:solidFill>
                <a:latin typeface="Songti SC"/>
                <a:ea typeface="Songti SC"/>
              </a:rPr>
              <a:t>第七步：建计划并下发执行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697480"/>
            <a:ext cx="384048" cy="384048"/>
          </a:xfrm>
          <a:prstGeom prst="ellipse">
            <a:avLst/>
          </a:prstGeom>
          <a:solidFill>
            <a:srgbClr val="C9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 i="0">
                <a:solidFill>
                  <a:srgbClr val="18110E"/>
                </a:solidFill>
                <a:latin typeface="Times New Roman"/>
                <a:ea typeface="Times New Roma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42616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E9D6"/>
                </a:solidFill>
                <a:latin typeface="Microsoft YaHei"/>
                <a:ea typeface="Microsoft YaHei"/>
              </a:rPr>
              <a:t>去「养号 / 截流计划」新建计划</a:t>
            </a:r>
          </a:p>
          <a:p>
            <a:pPr>
              <a:lnSpc>
                <a:spcPct val="125000"/>
              </a:lnSpc>
            </a:pPr>
            <a:r>
              <a:rPr sz="1300" b="0" i="0">
                <a:solidFill>
                  <a:srgbClr val="C3B498"/>
                </a:solidFill>
                <a:latin typeface="Microsoft YaHei"/>
                <a:ea typeface="Microsoft YaHei"/>
              </a:rPr>
              <a:t>选养号或截流，填关键词、各项互动比例，保存。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566160"/>
            <a:ext cx="384048" cy="384048"/>
          </a:xfrm>
          <a:prstGeom prst="ellipse">
            <a:avLst/>
          </a:prstGeom>
          <a:solidFill>
            <a:srgbClr val="C9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 i="0">
                <a:solidFill>
                  <a:srgbClr val="18110E"/>
                </a:solidFill>
                <a:latin typeface="Times New Roman"/>
                <a:ea typeface="Times New Roman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511296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E9D6"/>
                </a:solidFill>
                <a:latin typeface="Microsoft YaHei"/>
                <a:ea typeface="Microsoft YaHei"/>
              </a:rPr>
              <a:t>点 📤 下发，选本机设备</a:t>
            </a:r>
          </a:p>
          <a:p>
            <a:pPr>
              <a:lnSpc>
                <a:spcPct val="125000"/>
              </a:lnSpc>
            </a:pPr>
            <a:r>
              <a:rPr sz="1300" b="0" i="0">
                <a:solidFill>
                  <a:srgbClr val="C3B498"/>
                </a:solidFill>
                <a:latin typeface="Microsoft YaHei"/>
                <a:ea typeface="Microsoft YaHei"/>
              </a:rPr>
              <a:t>任务进入设备的待领取队列。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434840"/>
            <a:ext cx="384048" cy="384048"/>
          </a:xfrm>
          <a:prstGeom prst="ellipse">
            <a:avLst/>
          </a:prstGeom>
          <a:solidFill>
            <a:srgbClr val="C9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 i="0">
                <a:solidFill>
                  <a:srgbClr val="18110E"/>
                </a:solidFill>
                <a:latin typeface="Times New Roman"/>
                <a:ea typeface="Times New Roman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379976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E9D6"/>
                </a:solidFill>
                <a:latin typeface="Microsoft YaHei"/>
                <a:ea typeface="Microsoft YaHei"/>
              </a:rPr>
              <a:t>回「设备看板」看状态</a:t>
            </a:r>
          </a:p>
          <a:p>
            <a:pPr>
              <a:lnSpc>
                <a:spcPct val="125000"/>
              </a:lnSpc>
            </a:pPr>
            <a:r>
              <a:rPr sz="1300" b="0" i="0">
                <a:solidFill>
                  <a:srgbClr val="C3B498"/>
                </a:solidFill>
                <a:latin typeface="Microsoft YaHei"/>
                <a:ea typeface="Microsoft YaHei"/>
              </a:rPr>
              <a:t>休息中→工作中即已开始；出验证码会自动停止。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806440"/>
            <a:ext cx="11064240" cy="566928"/>
          </a:xfrm>
          <a:prstGeom prst="rect">
            <a:avLst/>
          </a:prstGeom>
          <a:solidFill>
            <a:srgbClr val="241B16"/>
          </a:solidFill>
          <a:ln w="12700">
            <a:solidFill>
              <a:srgbClr val="C9A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907024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C9A85F"/>
                </a:solidFill>
                <a:latin typeface="Microsoft YaHei"/>
                <a:ea typeface="Microsoft YaHei"/>
              </a:rPr>
              <a:t>⚠ </a:t>
            </a:r>
            <a:r>
              <a:rPr sz="1250" b="0" i="0">
                <a:solidFill>
                  <a:srgbClr val="F2E9D6"/>
                </a:solidFill>
                <a:latin typeface="Microsoft YaHei"/>
                <a:ea typeface="Microsoft YaHei"/>
              </a:rPr>
              <a:t>自动互动属平台灰色操作，请保守低频：默认只养号，截流回复/私信尽量 0 或极低频。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C9A85F"/>
                </a:solidFill>
                <a:latin typeface="Songti SC"/>
                <a:ea typeface="Songti SC"/>
              </a:rPr>
              <a:t>朱砂</a:t>
            </a:r>
            <a:r>
              <a:rPr sz="1300" b="0" i="0">
                <a:solidFill>
                  <a:srgbClr val="9C8F7C"/>
                </a:solidFill>
                <a:latin typeface="Songti SC"/>
                <a:ea typeface="Songti SC"/>
              </a:rPr>
              <a:t> · </a:t>
            </a:r>
            <a:r>
              <a:rPr sz="1300" b="1" i="0">
                <a:solidFill>
                  <a:srgbClr val="F2E9D6"/>
                </a:solidFill>
                <a:latin typeface="Songti SC"/>
                <a:ea typeface="Songti SC"/>
              </a:rPr>
              <a:t>操盘台</a:t>
            </a:r>
            <a:r>
              <a:rPr sz="900" b="0" i="0" spc="200">
                <a:solidFill>
                  <a:srgbClr val="9C8F7C"/>
                </a:solidFill>
                <a:latin typeface="Times New Roman"/>
                <a:ea typeface="Times New Roman"/>
              </a:rPr>
              <a:t>   VERTICAL AGENT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51560"/>
            <a:ext cx="11064239" cy="0"/>
          </a:xfrm>
          <a:prstGeom prst="bentConnector3">
            <a:avLst/>
          </a:prstGeom>
          <a:ln w="9525">
            <a:solidFill>
              <a:srgbClr val="3A2C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12344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 spc="300">
                <a:solidFill>
                  <a:srgbClr val="C9A85F"/>
                </a:solidFill>
                <a:latin typeface="Times New Roman"/>
                <a:ea typeface="Times New Roman"/>
              </a:rPr>
              <a:t>FAQ · 常见问题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2E9D6"/>
                </a:solidFill>
                <a:latin typeface="Songti SC"/>
                <a:ea typeface="Songti SC"/>
              </a:rPr>
              <a:t>装不上 / 掉线？先看这几条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697480"/>
            <a:ext cx="384048" cy="384048"/>
          </a:xfrm>
          <a:prstGeom prst="ellipse">
            <a:avLst/>
          </a:prstGeom>
          <a:solidFill>
            <a:srgbClr val="C9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 i="0">
                <a:solidFill>
                  <a:srgbClr val="18110E"/>
                </a:solidFill>
                <a:latin typeface="Times New Roman"/>
                <a:ea typeface="Times New Roma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42616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E9D6"/>
                </a:solidFill>
                <a:latin typeface="Microsoft YaHei"/>
                <a:ea typeface="Microsoft YaHei"/>
              </a:rPr>
              <a:t>装完又消失 / 失效</a:t>
            </a:r>
          </a:p>
          <a:p>
            <a:pPr>
              <a:lnSpc>
                <a:spcPct val="125000"/>
              </a:lnSpc>
            </a:pPr>
            <a:r>
              <a:rPr sz="1300" b="0" i="0">
                <a:solidFill>
                  <a:srgbClr val="C3B498"/>
                </a:solidFill>
                <a:latin typeface="Microsoft YaHei"/>
                <a:ea typeface="Microsoft YaHei"/>
              </a:rPr>
              <a:t>多半是解压文件夹被删或移动了——放固定目录后重新加载即可。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566160"/>
            <a:ext cx="384048" cy="384048"/>
          </a:xfrm>
          <a:prstGeom prst="ellipse">
            <a:avLst/>
          </a:prstGeom>
          <a:solidFill>
            <a:srgbClr val="C9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 i="0">
                <a:solidFill>
                  <a:srgbClr val="18110E"/>
                </a:solidFill>
                <a:latin typeface="Times New Roman"/>
                <a:ea typeface="Times New Roman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511296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E9D6"/>
                </a:solidFill>
                <a:latin typeface="Microsoft YaHei"/>
                <a:ea typeface="Microsoft YaHei"/>
              </a:rPr>
              <a:t>设备看板不显示本机</a:t>
            </a:r>
          </a:p>
          <a:p>
            <a:pPr>
              <a:lnSpc>
                <a:spcPct val="125000"/>
              </a:lnSpc>
            </a:pPr>
            <a:r>
              <a:rPr sz="1300" b="0" i="0">
                <a:solidFill>
                  <a:srgbClr val="C3B498"/>
                </a:solidFill>
                <a:latin typeface="Microsoft YaHei"/>
                <a:ea typeface="Microsoft YaHei"/>
              </a:rPr>
              <a:t>确认已登录朱砂账号，且插件弹窗里「本机作为执行设备」为开。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434840"/>
            <a:ext cx="384048" cy="384048"/>
          </a:xfrm>
          <a:prstGeom prst="ellipse">
            <a:avLst/>
          </a:prstGeom>
          <a:solidFill>
            <a:srgbClr val="C9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 i="0">
                <a:solidFill>
                  <a:srgbClr val="18110E"/>
                </a:solidFill>
                <a:latin typeface="Times New Roman"/>
                <a:ea typeface="Times New Roman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379976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E9D6"/>
                </a:solidFill>
                <a:latin typeface="Microsoft YaHei"/>
                <a:ea typeface="Microsoft YaHei"/>
              </a:rPr>
              <a:t>跑一会儿停了</a:t>
            </a:r>
          </a:p>
          <a:p>
            <a:pPr>
              <a:lnSpc>
                <a:spcPct val="125000"/>
              </a:lnSpc>
            </a:pPr>
            <a:r>
              <a:rPr sz="1300" b="0" i="0">
                <a:solidFill>
                  <a:srgbClr val="C3B498"/>
                </a:solidFill>
                <a:latin typeface="Microsoft YaHei"/>
                <a:ea typeface="Microsoft YaHei"/>
              </a:rPr>
              <a:t>遇到验证码会自动停止，属正常保护；手动过验证后可再下发。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303520"/>
            <a:ext cx="384048" cy="384048"/>
          </a:xfrm>
          <a:prstGeom prst="ellipse">
            <a:avLst/>
          </a:prstGeom>
          <a:solidFill>
            <a:srgbClr val="C9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 i="0">
                <a:solidFill>
                  <a:srgbClr val="18110E"/>
                </a:solidFill>
                <a:latin typeface="Times New Roman"/>
                <a:ea typeface="Times New Roman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248656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E9D6"/>
                </a:solidFill>
                <a:latin typeface="Microsoft YaHei"/>
                <a:ea typeface="Microsoft YaHei"/>
              </a:rPr>
              <a:t>更新了没生效</a:t>
            </a:r>
          </a:p>
          <a:p>
            <a:pPr>
              <a:lnSpc>
                <a:spcPct val="125000"/>
              </a:lnSpc>
            </a:pPr>
            <a:r>
              <a:rPr sz="1300" b="0" i="0">
                <a:solidFill>
                  <a:srgbClr val="C3B498"/>
                </a:solidFill>
                <a:latin typeface="Microsoft YaHei"/>
                <a:ea typeface="Microsoft YaHei"/>
              </a:rPr>
              <a:t>插件是本地加载，仓库更新后需重新下载并在扩展页「重新加载」。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 spc="500">
                <a:solidFill>
                  <a:srgbClr val="C9A85F"/>
                </a:solidFill>
                <a:latin typeface="Times New Roman"/>
                <a:ea typeface="Times New Roman"/>
              </a:rPr>
              <a:t>THANK 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200" b="1" i="0">
                <a:solidFill>
                  <a:srgbClr val="F2E9D6"/>
                </a:solidFill>
                <a:latin typeface="Songti SC"/>
                <a:ea typeface="Songti SC"/>
              </a:rPr>
              <a:t>装好了，就去获客吧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794760"/>
            <a:ext cx="2926080" cy="0"/>
          </a:xfrm>
          <a:prstGeom prst="bentConnector3">
            <a:avLst/>
          </a:prstGeom>
          <a:ln w="12700">
            <a:solidFill>
              <a:srgbClr val="C9A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40233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C3B498"/>
                </a:solidFill>
                <a:latin typeface="Microsoft YaHei"/>
                <a:ea typeface="Microsoft YaHei"/>
              </a:rPr>
              <a:t>有任何问题，点右下角「小红书助手」或到「联系客服」页加客服微信。</a:t>
            </a:r>
          </a:p>
          <a:p>
            <a:r>
              <a:rPr sz="1300" b="0" i="0">
                <a:solidFill>
                  <a:srgbClr val="9C8F7C"/>
                </a:solidFill>
                <a:latin typeface="Microsoft YaHei"/>
                <a:ea typeface="Microsoft YaHei"/>
              </a:rPr>
              <a:t>操作文档 / 常见问题 / 平台规则，都在助手里。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