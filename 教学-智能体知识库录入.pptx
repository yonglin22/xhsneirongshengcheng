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8288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675120"/>
            <a:ext cx="12191695" cy="18288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7A5C1E"/>
                </a:solidFill>
                <a:latin typeface="Microsoft YaHei"/>
              </a:rPr>
              <a:t>朱砂 · 操盘台 · 教学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5400" b="1">
                <a:solidFill>
                  <a:srgbClr val="241D14"/>
                </a:solidFill>
                <a:latin typeface="Microsoft YaHei"/>
              </a:rPr>
              <a:t>「智能体知识库录入」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>
                <a:solidFill>
                  <a:srgbClr val="A5813A"/>
                </a:solidFill>
                <a:latin typeface="Microsoft YaHei"/>
              </a:rPr>
              <a:t>操作流程 · 手把手教程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6B6459"/>
                </a:solidFill>
                <a:latin typeface="Microsoft YaHei"/>
              </a:rPr>
              <a:t>智能体 = 基础人设(prompt) + 9 个 skills(流水线) + 专属知识库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6B6459"/>
                </a:solidFill>
                <a:latin typeface="Microsoft YaHei"/>
              </a:rPr>
              <a:t>知识库随智能体走，自动注入每一次生成 —— 越全，产出越像本人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457200" cy="8229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572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7A5C1E"/>
                </a:solidFill>
                <a:latin typeface="Microsoft YaHei"/>
              </a:rPr>
              <a:t>WHY · 为什么要录知识库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241D14"/>
                </a:solidFill>
                <a:latin typeface="Microsoft YaHei"/>
              </a:rPr>
              <a:t>喂得越像你，AI 产出越像你本人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94560"/>
            <a:ext cx="493776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51460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241D14"/>
                </a:solidFill>
                <a:latin typeface="Microsoft YaHei"/>
              </a:rPr>
              <a:t>😖 不喂料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383280"/>
            <a:ext cx="42062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6B6459"/>
                </a:solidFill>
                <a:latin typeface="Microsoft YaHei"/>
              </a:rPr>
              <a:t>一眼假的 AI 味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6B6459"/>
                </a:solidFill>
                <a:latin typeface="Microsoft YaHei"/>
              </a:rPr>
              <a:t>语气不像、爱编事实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6B6459"/>
                </a:solidFill>
                <a:latin typeface="Microsoft YaHei"/>
              </a:rPr>
              <a:t>容易踩红线被限流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4937760" cy="329184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51460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✅ 喂了知识库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383280"/>
            <a:ext cx="42062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FDF6E6"/>
                </a:solidFill>
                <a:latin typeface="Microsoft YaHei"/>
              </a:rPr>
              <a:t>语气克隆到本人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FDF6E6"/>
                </a:solidFill>
                <a:latin typeface="Microsoft YaHei"/>
              </a:rPr>
              <a:t>只用你给的真信息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FDF6E6"/>
                </a:solidFill>
                <a:latin typeface="Microsoft YaHei"/>
              </a:rPr>
              <a:t>红线强制不碰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457200" cy="8229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572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7A5C1E"/>
                </a:solidFill>
                <a:latin typeface="Microsoft YaHei"/>
              </a:rPr>
              <a:t>OVERVIEW · 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241D14"/>
                </a:solidFill>
                <a:latin typeface="Microsoft YaHei"/>
              </a:rPr>
              <a:t>8 步，5 分钟搞定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2606040" cy="1554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50592"/>
            <a:ext cx="2606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A5813A"/>
                </a:solidFill>
                <a:latin typeface="Microsoft YaHei"/>
              </a:rPr>
              <a:t>0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41D14"/>
                </a:solidFill>
                <a:latin typeface="Microsoft YaHei"/>
              </a:rPr>
              <a:t>选智能体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0" y="2194560"/>
            <a:ext cx="2606040" cy="1554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2450592"/>
            <a:ext cx="2606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A5813A"/>
                </a:solidFill>
                <a:latin typeface="Microsoft YaHe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41D14"/>
                </a:solidFill>
                <a:latin typeface="Microsoft YaHei"/>
              </a:rPr>
              <a:t>准备素材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94560"/>
            <a:ext cx="2606040" cy="1554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50592"/>
            <a:ext cx="2606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A5813A"/>
                </a:solidFill>
                <a:latin typeface="Microsoft YaHe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41D14"/>
                </a:solidFill>
                <a:latin typeface="Microsoft YaHei"/>
              </a:rPr>
              <a:t>录入人设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2194560"/>
            <a:ext cx="2606040" cy="1554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2450592"/>
            <a:ext cx="2606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A5813A"/>
                </a:solidFill>
                <a:latin typeface="Microsoft YaHe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41D14"/>
                </a:solidFill>
                <a:latin typeface="Microsoft YaHei"/>
              </a:rPr>
              <a:t>录知识库 KB1-4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14800"/>
            <a:ext cx="2606040" cy="1554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70832"/>
            <a:ext cx="2606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A5813A"/>
                </a:solidFill>
                <a:latin typeface="Microsoft YaHe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41D14"/>
                </a:solidFill>
                <a:latin typeface="Microsoft YaHei"/>
              </a:rPr>
              <a:t>边界约束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0" y="4114800"/>
            <a:ext cx="2606040" cy="1554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0" y="4370832"/>
            <a:ext cx="2606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A5813A"/>
                </a:solidFill>
                <a:latin typeface="Microsoft YaHe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41D14"/>
                </a:solidFill>
                <a:latin typeface="Microsoft YaHei"/>
              </a:rPr>
              <a:t>配图风格(可选)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114800"/>
            <a:ext cx="2606040" cy="1554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370832"/>
            <a:ext cx="2606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A5813A"/>
                </a:solidFill>
                <a:latin typeface="Microsoft YaHe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41D14"/>
                </a:solidFill>
                <a:latin typeface="Microsoft YaHei"/>
              </a:rPr>
              <a:t>蒸馏技能(可选)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4114800"/>
            <a:ext cx="2606040" cy="155448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4370832"/>
            <a:ext cx="2606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6CF8E"/>
                </a:solidFill>
                <a:latin typeface="Microsoft YaHe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保存生效 → 8 验证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280160" cy="128016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CF8E"/>
                </a:solidFill>
                <a:latin typeface="Microsoft Ya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4864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A5C1E"/>
                </a:solidFill>
                <a:latin typeface="Microsoft YaHei"/>
              </a:rPr>
              <a:t>STEP 0 · 进入 &amp; 选号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93268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1D14"/>
                </a:solidFill>
                <a:latin typeface="Microsoft YaHei"/>
              </a:rPr>
              <a:t>进入「智能体设置」，选要配置的赛道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05156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7A5C1E"/>
                </a:solidFill>
                <a:latin typeface="Microsoft YaHei"/>
              </a:rPr>
              <a:t>📍 界面位置：</a:t>
            </a:r>
            <a:r>
              <a:rPr sz="1700" b="0">
                <a:solidFill>
                  <a:srgbClr val="241D14"/>
                </a:solidFill>
                <a:latin typeface="Microsoft YaHei"/>
              </a:rPr>
              <a:t>顶部/左侧导航 →「智能体设置」页 → 顶部「选择要配置的智能体」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7A5C1E"/>
                </a:solidFill>
                <a:latin typeface="Microsoft YaHei"/>
              </a:rPr>
              <a:t>操作步骤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20440"/>
            <a:ext cx="10149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在标签区点中你要配置的赛道（如设计考研）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没有就先新建一个赛道智能体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确认右上角「正在配置」显示的是对的号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806440"/>
            <a:ext cx="10515600" cy="685800"/>
          </a:xfrm>
          <a:prstGeom prst="roundRect">
            <a:avLst/>
          </a:prstGeom>
          <a:solidFill>
            <a:srgbClr val="F6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897880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7A5C1E"/>
                </a:solidFill>
                <a:latin typeface="Microsoft YaHei"/>
              </a:rPr>
              <a:t>⚠ 避坑：</a:t>
            </a:r>
            <a:r>
              <a:rPr sz="1500" b="0">
                <a:solidFill>
                  <a:srgbClr val="6B6459"/>
                </a:solidFill>
                <a:latin typeface="Microsoft YaHei"/>
              </a:rPr>
              <a:t>配置按赛道独立保存，各赛道互不干扰；别填错号。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280160" cy="128016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CF8E"/>
                </a:solidFill>
                <a:latin typeface="Microsoft Ya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4864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A5C1E"/>
                </a:solidFill>
                <a:latin typeface="Microsoft YaHei"/>
              </a:rPr>
              <a:t>STEP 1 · 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93268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1D14"/>
                </a:solidFill>
                <a:latin typeface="Microsoft YaHei"/>
              </a:rPr>
              <a:t>录入前先备好三类素材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05156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7A5C1E"/>
                </a:solidFill>
                <a:latin typeface="Microsoft YaHei"/>
              </a:rPr>
              <a:t>📍 界面位置：</a:t>
            </a:r>
            <a:r>
              <a:rPr sz="1700" b="0">
                <a:solidFill>
                  <a:srgbClr val="241D14"/>
                </a:solidFill>
                <a:latin typeface="Microsoft YaHei"/>
              </a:rPr>
              <a:t>本地准备（文档 / 图片皆可）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7A5C1E"/>
                </a:solidFill>
                <a:latin typeface="Microsoft YaHei"/>
              </a:rPr>
              <a:t>操作步骤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20440"/>
            <a:ext cx="10149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本人笔记 3~5 篇（克隆语气的核心）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行业事实资料（时间节点/各科要点/院校梯队）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红线清单（不能提的机构名/价格/承诺）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806440"/>
            <a:ext cx="10515600" cy="685800"/>
          </a:xfrm>
          <a:prstGeom prst="roundRect">
            <a:avLst/>
          </a:prstGeom>
          <a:solidFill>
            <a:srgbClr val="F6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897880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7A5C1E"/>
                </a:solidFill>
                <a:latin typeface="Microsoft YaHei"/>
              </a:rPr>
              <a:t>⚠ 避坑：</a:t>
            </a:r>
            <a:r>
              <a:rPr sz="1500" b="0">
                <a:solidFill>
                  <a:srgbClr val="6B6459"/>
                </a:solidFill>
                <a:latin typeface="Microsoft YaHei"/>
              </a:rPr>
              <a:t>最关键是你自己写过的笔记——这是让 AI 学你说话方式的根。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280160" cy="128016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CF8E"/>
                </a:solidFill>
                <a:latin typeface="Microsoft Ya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4864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A5C1E"/>
                </a:solidFill>
                <a:latin typeface="Microsoft YaHei"/>
              </a:rPr>
              <a:t>STEP 2 · 基础人设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93268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1D14"/>
                </a:solidFill>
                <a:latin typeface="Microsoft YaHei"/>
              </a:rPr>
              <a:t>录入「基础人设（系统 prompt）」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05156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7A5C1E"/>
                </a:solidFill>
                <a:latin typeface="Microsoft YaHei"/>
              </a:rPr>
              <a:t>📍 界面位置：</a:t>
            </a:r>
            <a:r>
              <a:rPr sz="1700" b="0">
                <a:solidFill>
                  <a:srgbClr val="241D14"/>
                </a:solidFill>
                <a:latin typeface="Microsoft YaHei"/>
              </a:rPr>
              <a:t>左栏第一张卡「基础人设」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7A5C1E"/>
                </a:solidFill>
                <a:latin typeface="Microsoft YaHei"/>
              </a:rPr>
              <a:t>操作步骤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20440"/>
            <a:ext cx="10149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手写：身份/定位、语气、选题方法论、边界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一键生成(推荐)：先把笔记贴进 KB2/KB1 → 点「✨据我的笔记一键生成」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AI 做 语气克隆 + 方法论提取，生成后可再改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806440"/>
            <a:ext cx="10515600" cy="685800"/>
          </a:xfrm>
          <a:prstGeom prst="roundRect">
            <a:avLst/>
          </a:prstGeom>
          <a:solidFill>
            <a:srgbClr val="F6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897880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7A5C1E"/>
                </a:solidFill>
                <a:latin typeface="Microsoft YaHei"/>
              </a:rPr>
              <a:t>⚠ 避坑：</a:t>
            </a:r>
            <a:r>
              <a:rPr sz="1500" b="0">
                <a:solidFill>
                  <a:srgbClr val="6B6459"/>
                </a:solidFill>
                <a:latin typeface="Microsoft YaHei"/>
              </a:rPr>
              <a:t>一键生成前 KB2 或 KB1 必须先有内容，否则会提示先粘贴/上传。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280160" cy="128016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CF8E"/>
                </a:solidFill>
                <a:latin typeface="Microsoft Ya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4864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A5C1E"/>
                </a:solidFill>
                <a:latin typeface="Microsoft YaHei"/>
              </a:rPr>
              <a:t>STEP 3 · 本课重点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93268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1D14"/>
                </a:solidFill>
                <a:latin typeface="Microsoft YaHei"/>
              </a:rPr>
              <a:t>录入「专属知识库」KB1~KB4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3017520" cy="841248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86200" y="2148840"/>
            <a:ext cx="3291840" cy="841248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23760" y="2148840"/>
            <a:ext cx="4114800" cy="841248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017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栏目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14884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录什么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1148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举例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0088"/>
            <a:ext cx="30175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86200" y="2990088"/>
            <a:ext cx="32918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23760" y="2990088"/>
            <a:ext cx="411480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990088"/>
            <a:ext cx="2788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7A5C1E"/>
                </a:solidFill>
                <a:latin typeface="Microsoft YaHei"/>
              </a:rPr>
              <a:t>KB1 · 账号人设资料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990088"/>
            <a:ext cx="30632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41D14"/>
                </a:solidFill>
                <a:latin typeface="Microsoft YaHei"/>
              </a:rPr>
              <a:t>身份/口吻/擅长/不碰的话题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990088"/>
            <a:ext cx="3886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459"/>
                </a:solidFill>
                <a:latin typeface="Microsoft YaHei"/>
              </a:rPr>
              <a:t>985在读，带过3届考研；说话干脆爱举例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831336"/>
            <a:ext cx="30175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886200" y="3831336"/>
            <a:ext cx="32918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3760" y="3831336"/>
            <a:ext cx="411480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831336"/>
            <a:ext cx="2788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7A5C1E"/>
                </a:solidFill>
                <a:latin typeface="Microsoft YaHei"/>
              </a:rPr>
              <a:t>KB3 · 行业知识/事实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831336"/>
            <a:ext cx="30632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41D14"/>
                </a:solidFill>
                <a:latin typeface="Microsoft YaHei"/>
              </a:rPr>
              <a:t>可引用的真实信息点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831336"/>
            <a:ext cx="3886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459"/>
                </a:solidFill>
                <a:latin typeface="Microsoft YaHei"/>
              </a:rPr>
              <a:t>报名节点/各科要点；不确定标「需核实」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672584"/>
            <a:ext cx="30175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86200" y="4672584"/>
            <a:ext cx="32918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23760" y="4672584"/>
            <a:ext cx="411480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672584"/>
            <a:ext cx="2788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7A5C1E"/>
                </a:solidFill>
                <a:latin typeface="Microsoft YaHei"/>
              </a:rPr>
              <a:t>KB2 · 本人爆文样本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4672584"/>
            <a:ext cx="30632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41D14"/>
                </a:solidFill>
                <a:latin typeface="Microsoft YaHei"/>
              </a:rPr>
              <a:t>你写过的爆文原文（只学语气不照抄）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4672584"/>
            <a:ext cx="3886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459"/>
                </a:solidFill>
                <a:latin typeface="Microsoft YaHei"/>
              </a:rPr>
              <a:t>贴 3~5 段本人笔记原文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513832"/>
            <a:ext cx="30175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86200" y="5513832"/>
            <a:ext cx="32918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23760" y="5513832"/>
            <a:ext cx="411480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513832"/>
            <a:ext cx="2788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7A5C1E"/>
                </a:solidFill>
                <a:latin typeface="Microsoft YaHei"/>
              </a:rPr>
              <a:t>KB4 · 额外违禁/红线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5513832"/>
            <a:ext cx="30632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41D14"/>
                </a:solidFill>
                <a:latin typeface="Microsoft YaHei"/>
              </a:rPr>
              <a:t>内置合规之外的补充禁区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5513832"/>
            <a:ext cx="3886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459"/>
                </a:solidFill>
                <a:latin typeface="Microsoft YaHei"/>
              </a:rPr>
              <a:t>不提机构名、不出现价格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722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B6459"/>
                </a:solidFill>
                <a:latin typeface="Microsoft YaHei"/>
              </a:rPr>
              <a:t>每栏可直接粘贴文字或 📎上传文件（txt/md/docx/xlsx/pptx/pdf/图片）；右上角实时显示「X文件·约X字」。KB2 只学语气不照抄。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280160" cy="128016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CF8E"/>
                </a:solidFill>
                <a:latin typeface="Microsoft Ya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4864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A5C1E"/>
                </a:solidFill>
                <a:latin typeface="Microsoft YaHei"/>
              </a:rPr>
              <a:t>STEP 4 · 边界约束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93268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1D14"/>
                </a:solidFill>
                <a:latin typeface="Microsoft YaHei"/>
              </a:rPr>
              <a:t>设置「边界约束」（强制生效·最高优先）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05156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7A5C1E"/>
                </a:solidFill>
                <a:latin typeface="Microsoft YaHei"/>
              </a:rPr>
              <a:t>📍 界面位置：</a:t>
            </a:r>
            <a:r>
              <a:rPr sz="1700" b="0">
                <a:solidFill>
                  <a:srgbClr val="241D14"/>
                </a:solidFill>
                <a:latin typeface="Microsoft YaHei"/>
              </a:rPr>
              <a:t>左栏「边界约束」卡，四个框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7A5C1E"/>
                </a:solidFill>
                <a:latin typeface="Microsoft YaHei"/>
              </a:rPr>
              <a:t>操作步骤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20440"/>
            <a:ext cx="10149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⛔ 禁区 · 绝不出现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✅ 必守事实 · 只能这样说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🎯 统一口径 · 术语一致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📌 创作偏好 · 减少返工（流水线可「记偏好」追加）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806440"/>
            <a:ext cx="10515600" cy="685800"/>
          </a:xfrm>
          <a:prstGeom prst="roundRect">
            <a:avLst/>
          </a:prstGeom>
          <a:solidFill>
            <a:srgbClr val="F6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897880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7A5C1E"/>
                </a:solidFill>
                <a:latin typeface="Microsoft YaHei"/>
              </a:rPr>
              <a:t>⚠ 避坑：</a:t>
            </a:r>
            <a:r>
              <a:rPr sz="1500" b="0">
                <a:solidFill>
                  <a:srgbClr val="6B6459"/>
                </a:solidFill>
                <a:latin typeface="Microsoft YaHei"/>
              </a:rPr>
              <a:t>优先级最高，强制生效于每一次生成；把红线和口径写死，产出不翻车。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280160" cy="128016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CF8E"/>
                </a:solidFill>
                <a:latin typeface="Microsoft Ya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4864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A5C1E"/>
                </a:solidFill>
                <a:latin typeface="Microsoft YaHei"/>
              </a:rPr>
              <a:t>STEP 5-6 · 可选增强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93268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1D14"/>
                </a:solidFill>
                <a:latin typeface="Microsoft YaHei"/>
              </a:rPr>
              <a:t>配图风格库 &amp; 蒸馏技能（可选）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05156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7A5C1E"/>
                </a:solidFill>
                <a:latin typeface="Microsoft YaHei"/>
              </a:rPr>
              <a:t>📍 界面位置：</a:t>
            </a:r>
            <a:r>
              <a:rPr sz="1700" b="0">
                <a:solidFill>
                  <a:srgbClr val="241D14"/>
                </a:solidFill>
                <a:latin typeface="Microsoft YaHei"/>
              </a:rPr>
              <a:t>基础人设卡下方 / 自定义 Skills 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7A5C1E"/>
                </a:solidFill>
                <a:latin typeface="Microsoft YaHei"/>
              </a:rPr>
              <a:t>操作步骤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20440"/>
            <a:ext cx="10149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配图视觉风格：填一句画风（手绘/ins极简/莫兰迪…）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配图风格库：📎加参考图 → ✨提炼画风 自动转文字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蒸馏技能：把你的方法论/SOP 蒸馏成可复用技能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806440"/>
            <a:ext cx="10515600" cy="685800"/>
          </a:xfrm>
          <a:prstGeom prst="roundRect">
            <a:avLst/>
          </a:prstGeom>
          <a:solidFill>
            <a:srgbClr val="F6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897880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7A5C1E"/>
                </a:solidFill>
                <a:latin typeface="Microsoft YaHei"/>
              </a:rPr>
              <a:t>⚠ 避坑：</a:t>
            </a:r>
            <a:r>
              <a:rPr sz="1500" b="0">
                <a:solidFill>
                  <a:srgbClr val="6B6459"/>
                </a:solidFill>
                <a:latin typeface="Microsoft YaHei"/>
              </a:rPr>
              <a:t>想让每篇配图风格统一，就填画风或传样图自动提炼。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02920"/>
            <a:ext cx="1280160" cy="128016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CF8E"/>
                </a:solidFill>
                <a:latin typeface="Microsoft YaHei"/>
              </a:rPr>
              <a:t>STEP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4864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A5C1E"/>
                </a:solidFill>
                <a:latin typeface="Microsoft YaHei"/>
              </a:rPr>
              <a:t>STEP 7-8 · 保存 &amp; 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93268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1D14"/>
                </a:solidFill>
                <a:latin typeface="Microsoft YaHei"/>
              </a:rPr>
              <a:t>保存生效，再去流水线验证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05156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7A5C1E"/>
                </a:solidFill>
                <a:latin typeface="Microsoft YaHei"/>
              </a:rPr>
              <a:t>📍 界面位置：</a:t>
            </a:r>
            <a:r>
              <a:rPr sz="1700" b="0">
                <a:solidFill>
                  <a:srgbClr val="241D14"/>
                </a:solidFill>
                <a:latin typeface="Microsoft YaHei"/>
              </a:rPr>
              <a:t>底部「保存到该智能体」→ 创作流水线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7A5C1E"/>
                </a:solidFill>
                <a:latin typeface="Microsoft YaHei"/>
              </a:rPr>
              <a:t>操作步骤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20440"/>
            <a:ext cx="10149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点「保存到该智能体」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看到「✓ 已保存并生效（X文件·约X字）」即成功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900" b="1">
                <a:solidFill>
                  <a:srgbClr val="A5813A"/>
                </a:solidFill>
                <a:latin typeface="Microsoft YaHei"/>
              </a:rPr>
              <a:t>• </a:t>
            </a:r>
            <a:r>
              <a:rPr sz="1900" b="0">
                <a:solidFill>
                  <a:srgbClr val="241D14"/>
                </a:solidFill>
                <a:latin typeface="Microsoft YaHei"/>
              </a:rPr>
              <a:t>进「创作流水线」用该赛道生成一篇，验证语气/事实/红线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806440"/>
            <a:ext cx="10515600" cy="685800"/>
          </a:xfrm>
          <a:prstGeom prst="roundRect">
            <a:avLst/>
          </a:prstGeom>
          <a:solidFill>
            <a:srgbClr val="F6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897880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7A5C1E"/>
                </a:solidFill>
                <a:latin typeface="Microsoft YaHei"/>
              </a:rPr>
              <a:t>⚠ 避坑：</a:t>
            </a:r>
            <a:r>
              <a:rPr sz="1500" b="0">
                <a:solidFill>
                  <a:srgbClr val="6B6459"/>
                </a:solidFill>
                <a:latin typeface="Microsoft YaHei"/>
              </a:rPr>
              <a:t>配置按赛道独立保存；自定义赛道连定义一起存云端，换设备可恢复。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82880"/>
          </a:xfrm>
          <a:prstGeom prst="roundRect">
            <a:avLst/>
          </a:prstGeom>
          <a:solidFill>
            <a:srgbClr val="A5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>
                <a:solidFill>
                  <a:srgbClr val="E6CF8E"/>
                </a:solidFill>
                <a:latin typeface="Microsoft YaHei"/>
              </a:rPr>
              <a:t>一句话记住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知识库越全，产出越像本人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E6CF8E"/>
                </a:solidFill>
                <a:latin typeface="Microsoft YaHei"/>
              </a:rPr>
              <a:t>先把几篇笔记喂进 KB2 → 人设一键生成 → 补齐四格 → 保存 → 流水线验证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CFC3A8"/>
                </a:solidFill>
                <a:latin typeface="Microsoft YaHei"/>
              </a:rPr>
              <a:t>5 分钟，让 AI 变成「你的分身」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